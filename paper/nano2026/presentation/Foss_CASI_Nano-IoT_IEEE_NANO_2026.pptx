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F51F613E-2845-4C4F-B84A-CD351E2CC1E9}" type="datetimeFigureOut">
              <a:rPr lang="de-DE" smtClean="0"/>
              <a:t>07.07.26</a:t>
            </a:fld>
            <a:endParaRPr lang="de-DE"/>
          </a:p>
        </p:txBody>
      </p:sp>
      <p:sp>
        <p:nvSpPr>
          <p:cNvPr id="4" name="Folienbildplatzhalt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D8BD59B1-4A80-444B-8731-A1B6D06455EC}" type="slidenum">
              <a:rPr lang="de-DE" smtClean="0"/>
              <a:t>‹Nr.›</a:t>
            </a:fld>
            <a:endParaRPr lang="de-DE"/>
          </a:p>
        </p:txBody>
      </p:sp>
    </p:spTree>
    <p:extLst>
      <p:ext uri="{BB962C8B-B14F-4D97-AF65-F5344CB8AC3E}">
        <p14:creationId xmlns:p14="http://schemas.microsoft.com/office/powerpoint/2010/main" val="2009078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a:r>
            <a:r>
              <a:rPr lang="de-DE" dirty="0" err="1"/>
              <a:t>afternoon</a:t>
            </a:r>
            <a:r>
              <a:rPr lang="de-DE" dirty="0"/>
              <a:t> </a:t>
            </a:r>
            <a:r>
              <a:rPr lang="de-DE" dirty="0" err="1"/>
              <a:t>everyone</a:t>
            </a:r>
            <a:r>
              <a:rPr lang="en-US" dirty="0"/>
              <a:t>. My name is David </a:t>
            </a:r>
            <a:r>
              <a:rPr lang="de-DE" dirty="0"/>
              <a:t>Tom </a:t>
            </a:r>
            <a:r>
              <a:rPr lang="en-US" dirty="0" err="1"/>
              <a:t>Foss</a:t>
            </a:r>
            <a:r>
              <a:rPr lang="en-US" dirty="0"/>
              <a:t>. I</a:t>
            </a:r>
            <a:r>
              <a:rPr lang="de-DE" dirty="0"/>
              <a:t>m from germany, I work on AI Systems and</a:t>
            </a:r>
            <a:r>
              <a:rPr lang="en-US" dirty="0"/>
              <a:t> compression based</a:t>
            </a:r>
            <a:r>
              <a:rPr lang="de-DE" dirty="0"/>
              <a:t> </a:t>
            </a:r>
            <a:r>
              <a:rPr lang="de-DE" dirty="0" err="1"/>
              <a:t>Knowledgegraphs</a:t>
            </a:r>
            <a:r>
              <a:rPr lang="de-DE" dirty="0"/>
              <a:t> and </a:t>
            </a:r>
            <a:r>
              <a:rPr lang="en-US" dirty="0"/>
              <a:t> </a:t>
            </a:r>
            <a:r>
              <a:rPr lang="de-DE" dirty="0"/>
              <a:t>this</a:t>
            </a:r>
            <a:r>
              <a:rPr lang="en-US" dirty="0"/>
              <a:t> </a:t>
            </a:r>
            <a:r>
              <a:rPr lang="de-DE" dirty="0"/>
              <a:t>work is </a:t>
            </a:r>
            <a:r>
              <a:rPr lang="en-US" dirty="0"/>
              <a:t> </a:t>
            </a:r>
            <a:r>
              <a:rPr lang="de-DE" dirty="0"/>
              <a:t>about</a:t>
            </a:r>
            <a:r>
              <a:rPr lang="en-US" dirty="0"/>
              <a:t> finding hidden structure in data. Today I show you one simple idea, and how it broke a standardized cipher family that runs inside billions of nano-scale devices. Let us start.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where does this come from? It did not start in cryptography at all. I built a compression based knowledge format that does data-storage and reasoning within the format itself, called dot-causal, to find faint hidden structure in data — think of it as a PCR test for data. It also amplifies weak signals that wouldn’t be visible otherwise. It came out of very different fields, like nuclear physics, AI, and genomics. Now, encrypted data is the one place where structure should never appear — good encryption is supposed to look like pure noise. So I pointed my format at ciphers, as the hardest possible test. That gave two tools. CASI  which translates to (</a:t>
            </a:r>
            <a:r>
              <a:rPr lang="de-DE" sz="1800" b="0" i="0" dirty="0" err="1">
                <a:solidFill>
                  <a:srgbClr val="000000"/>
                </a:solidFill>
                <a:effectLst/>
                <a:latin typeface="Helvetica" pitchFamily="2" charset="0"/>
              </a:rPr>
              <a:t>Causal</a:t>
            </a:r>
            <a:r>
              <a:rPr lang="de-DE" sz="1800" b="0" i="0" dirty="0">
                <a:solidFill>
                  <a:srgbClr val="000000"/>
                </a:solidFill>
                <a:effectLst/>
                <a:latin typeface="Helvetica" pitchFamily="2" charset="0"/>
              </a:rPr>
              <a:t> </a:t>
            </a:r>
            <a:r>
              <a:rPr lang="de-DE" sz="1800" b="0" i="0" dirty="0" err="1">
                <a:solidFill>
                  <a:srgbClr val="000000"/>
                </a:solidFill>
                <a:effectLst/>
                <a:latin typeface="Helvetica" pitchFamily="2" charset="0"/>
              </a:rPr>
              <a:t>Amplification</a:t>
            </a:r>
            <a:r>
              <a:rPr lang="de-DE" sz="1800" b="0" i="0" dirty="0">
                <a:solidFill>
                  <a:srgbClr val="000000"/>
                </a:solidFill>
                <a:effectLst/>
                <a:latin typeface="Helvetica" pitchFamily="2" charset="0"/>
              </a:rPr>
              <a:t> Security </a:t>
            </a:r>
            <a:r>
              <a:rPr lang="de-DE" sz="1800" b="0" i="0" dirty="0" err="1">
                <a:solidFill>
                  <a:srgbClr val="000000"/>
                </a:solidFill>
                <a:effectLst/>
                <a:latin typeface="Helvetica" pitchFamily="2" charset="0"/>
              </a:rPr>
              <a:t>Inde</a:t>
            </a:r>
            <a:r>
              <a:rPr lang="en-US" sz="1800" b="0" i="0" dirty="0">
                <a:solidFill>
                  <a:srgbClr val="000000"/>
                </a:solidFill>
                <a:effectLst/>
                <a:latin typeface="Helvetica" pitchFamily="2" charset="0"/>
              </a:rPr>
              <a:t>x</a:t>
            </a:r>
            <a:r>
              <a:rPr lang="en-US" dirty="0"/>
              <a:t>): which gives one number for how random the output really is. And F8: when something does leak, it finds the exact reason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Billions of nano-devices — far too small for normal encryption. So they run lightweight ciphers, fixed in ISO and NIST standards. The key point: once a cipher is in silicon, you can never patch it. A flaw stays for the whole life of the device. And no existing test fits a deployed chip — neural distinguishers need training and reduced rounds, statistical suites catch only gross failures. That gap is what this work closes.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idea on one slide. A secure cipher makes output that looks like pure noise. And noise cannot be compressed — there is no pattern to squeeze. Top lane: a secure cipher. The compressor wins almost nothing — score near one. Bottom lane: a flawed cipher left a faint pattern. The output collapses — score above two. In practice: seven compression strategies, one ratio against true random. That ratio is CASI. In plain words — a zip test.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Forty-one implementations, nine families — every cipher in ISO 29167 and the new NIST standard, all at full rounds. The result. Most hold. PRESENT, GIFT, SKINNY, KATAN: secure. ASCON and Grain: clean. SIMON and LEA: immune. But the top row. Speck — a full ISO standard — broken. All ten variants. Eighteen to forty standard deviations. One note: plain CASI alone fades before full rounds. Catching Speck there is the job of the second tool — F8. That is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leak, in the ciphers' own wiring. Left: one round of Speck. The box-plus is addition. Addition has a carry — low bits ripple into the high bits. And Speck feeds that result straight into the state, no rotation first. The red path is the leak. Right: SIMON. Only AND, rotate, XOR. No addition, no carry — nothing to detect. The whole difference is one operation.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what makes it striking. Speck and SIMON are twins. Same ISO series, same designer — the NSA, both 2013 — same sizes, same hardware cost. On paper, interchangeable. One is broken, one is immune. Only because one adds and the other does not. The practical advice is simple: prefer SIMON.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Ten bars — all ten standardized Speck sizes, at full rounds. The dashed line means could be random. Every bar is far above it: eighteen to forty standard deviations, p below ten to the minus six. For comparison: SIMON and LEA sit in the small blue band at the bottom.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remarkable single result. The leak follows an exact law. Beta counts the rotations between the addition and the state. Each rotation cuts the leak by about four times. Speck does zero — so it leaks the most. The fit: R squared 0.999997. That is not a coincidence. That is a mechanism.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is not a Speck quirk. The same leak appears everywhere addition is exposed. The biggest example: Threefish — the cipher behind the SHA-3 finalist Skein. For over a decade, top labs attacked it and reached at most fifty-seven of seventy-two rounds, and only with chosen inputs. F8 sees structure across all seventy-two rounds, from output alone — signal about five thousand nine hundred. SPARX is the proof of the rule: its ARX core alone leaks like Speck, but the full cipher adds a diffusion layer between rounds and becomes immune. And SIMON, ChaCha20, AES: zero. The rule predicts nine of nine correctly.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surprise on the way. CASI flagged two implementations with absurd scores. I checked — real bugs, not planted. SKINNY: S-box errors, wrong state layout. KATAN: wrong mask, missing steps — score four thousand. Found from the output alone, without the source code. Fix the bugs, both drop to one. So the tool also finds bugs on its 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give you, if you build nano-devices? Three things. One: you can finally test the encryption after the chip is made — on a sealed chip, using only the scrambled data it sends out. No probes, no source code, no keys. Two: it is one number, and the same test works for any cipher — Speck, ASCON, anything. Above two, look closer; below two, it is good. That fits a production line. Three: it catches real manufacturing mistakes on its own — it already found four — and it flags a standardized cipher, Speck, that you should not ship. And all of it runs on a plain Mac mini. No supercomputer.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it compare to what exists? Two families of methods came before. Statistical test suites give you hundreds of pass-fail results to read by hand. Neural distinguishers — the strongest prior work — need heavy training on a GPU, and only ever crack weakened, reduced versions of a cipher. This method is the only one that is all of these at once: needs only the output, no training, one number, works at full strength, and finds bugs. And the reach speaks for itself — the best neural work reaches about half of Speck; a decade of effort on Threefish reached 57 of its 72 rounds. This reaches full strength on both, on a desktop.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I felt need to test, because my Test was so sensitive. does an old, noisy chip cause false alarms? I added random bit-flips, up to five percent, to mimic aging. I tested it with Ascon, Present and Simon. All three ciphers stay flat, far below the threshold. And note the direction — noise pushes the score down, toward random, while a real flaw pushes it up. They move opposite ways, so aging never trips a false alarm.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You build billions of tiny chips that can never be patched — and until now, no one could check the encryption once the chip was made. This gives you that check, from the chip's output alone. It found that one standardized cipher, Speck, is broken, and it caught real manufacturing bugs on its own — all on a normal desktop. The simple rule to take home: for nano devices, do not ship Speck; prefer SIMON. And to my knowledge, three firsts: the first compression-based cipher test, the first full-round result on Speck, and the largest study of deployed lightweight ciphers. Everything is free and open — live-casi, on GitHub and PyPI. Thank you. I am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20F"/>
        </a:solidFill>
        <a:effectLst/>
      </p:bgPr>
    </p:bg>
    <p:spTree>
      <p:nvGrpSpPr>
        <p:cNvPr id="1" name=""/>
        <p:cNvGrpSpPr/>
        <p:nvPr/>
      </p:nvGrpSpPr>
      <p:grpSpPr>
        <a:xfrm>
          <a:off x="0" y="0"/>
          <a:ext cx="0" cy="0"/>
          <a:chOff x="0" y="0"/>
          <a:chExt cx="0" cy="0"/>
        </a:xfrm>
      </p:grpSpPr>
      <p:sp>
        <p:nvSpPr>
          <p:cNvPr id="2" name="Text 0"/>
          <p:cNvSpPr/>
          <p:nvPr/>
        </p:nvSpPr>
        <p:spPr>
          <a:xfrm>
            <a:off x="1143000" y="895350"/>
            <a:ext cx="4291519" cy="314325"/>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A9388"/>
                </a:solidFill>
                <a:latin typeface="Arial" pitchFamily="34" charset="0"/>
                <a:ea typeface="Arial" pitchFamily="34" charset="-122"/>
                <a:cs typeface="Arial" pitchFamily="34" charset="-120"/>
              </a:rPr>
              <a:t>IEEE NANO 2026 · NANJING</a:t>
            </a:r>
            <a:endParaRPr lang="en-US" sz="1800" dirty="0"/>
          </a:p>
        </p:txBody>
      </p:sp>
      <p:sp>
        <p:nvSpPr>
          <p:cNvPr id="3" name="Text 1"/>
          <p:cNvSpPr/>
          <p:nvPr/>
        </p:nvSpPr>
        <p:spPr>
          <a:xfrm>
            <a:off x="14190315" y="895350"/>
            <a:ext cx="3250153" cy="314325"/>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A9388"/>
                </a:solidFill>
                <a:latin typeface="Arial" pitchFamily="34" charset="0"/>
                <a:ea typeface="Arial" pitchFamily="34" charset="-122"/>
                <a:cs typeface="Arial" pitchFamily="34" charset="-120"/>
              </a:rPr>
              <a:t>NANO-IOT SECURITY</a:t>
            </a:r>
            <a:endParaRPr lang="en-US" sz="1800" dirty="0"/>
          </a:p>
        </p:txBody>
      </p:sp>
      <p:sp>
        <p:nvSpPr>
          <p:cNvPr id="4" name="Shape 2"/>
          <p:cNvSpPr/>
          <p:nvPr/>
        </p:nvSpPr>
        <p:spPr>
          <a:xfrm>
            <a:off x="1143000" y="2700338"/>
            <a:ext cx="419100" cy="9525"/>
          </a:xfrm>
          <a:prstGeom prst="rect">
            <a:avLst/>
          </a:prstGeom>
          <a:solidFill>
            <a:srgbClr val="C08A5E"/>
          </a:solidFill>
          <a:ln/>
        </p:spPr>
        <p:txBody>
          <a:bodyPr/>
          <a:lstStyle/>
          <a:p>
            <a:endParaRPr lang="de-DE"/>
          </a:p>
        </p:txBody>
      </p:sp>
      <p:sp>
        <p:nvSpPr>
          <p:cNvPr id="5" name="Text 3"/>
          <p:cNvSpPr/>
          <p:nvPr/>
        </p:nvSpPr>
        <p:spPr>
          <a:xfrm>
            <a:off x="1733550" y="2566988"/>
            <a:ext cx="8519675" cy="304800"/>
          </a:xfrm>
          <a:prstGeom prst="rect">
            <a:avLst/>
          </a:prstGeom>
          <a:noFill/>
          <a:ln/>
        </p:spPr>
        <p:txBody>
          <a:bodyPr wrap="square" lIns="0" tIns="0" rIns="0" bIns="0" rtlCol="0" anchor="t">
            <a:normAutofit/>
          </a:bodyPr>
          <a:lstStyle/>
          <a:p>
            <a:pPr marL="0" indent="0" algn="l">
              <a:buNone/>
            </a:pPr>
            <a:r>
              <a:rPr lang="en-US" sz="1800" kern="0" spc="288" dirty="0">
                <a:solidFill>
                  <a:srgbClr val="C08A5E"/>
                </a:solidFill>
                <a:latin typeface="Arial" pitchFamily="34" charset="0"/>
                <a:ea typeface="Arial" pitchFamily="34" charset="-122"/>
                <a:cs typeface="Arial" pitchFamily="34" charset="-120"/>
              </a:rPr>
              <a:t>TRUST VERIFICATION FOR DEPLOYED NANO-IOT CIPHERS</a:t>
            </a:r>
            <a:endParaRPr lang="en-US" sz="1800" dirty="0"/>
          </a:p>
        </p:txBody>
      </p:sp>
      <p:sp>
        <p:nvSpPr>
          <p:cNvPr id="6" name="Text 4"/>
          <p:cNvSpPr/>
          <p:nvPr/>
        </p:nvSpPr>
        <p:spPr>
          <a:xfrm>
            <a:off x="1143000" y="3224213"/>
            <a:ext cx="14716125" cy="2609850"/>
          </a:xfrm>
          <a:prstGeom prst="rect">
            <a:avLst/>
          </a:prstGeom>
          <a:noFill/>
          <a:ln/>
        </p:spPr>
        <p:txBody>
          <a:bodyPr wrap="square" lIns="25400" tIns="25400" rIns="25400" bIns="25400" rtlCol="0" anchor="t">
            <a:normAutofit/>
          </a:bodyPr>
          <a:lstStyle/>
          <a:p>
            <a:pPr marL="0" indent="0" algn="l">
              <a:lnSpc>
                <a:spcPct val="108000"/>
              </a:lnSpc>
              <a:buNone/>
            </a:pPr>
            <a:r>
              <a:rPr lang="en-US" sz="6300" kern="0" spc="-63" dirty="0">
                <a:solidFill>
                  <a:srgbClr val="F8F7F3"/>
                </a:solidFill>
                <a:latin typeface="Georgia" pitchFamily="34" charset="0"/>
                <a:ea typeface="Georgia" pitchFamily="34" charset="-122"/>
                <a:cs typeface="Georgia" pitchFamily="34" charset="-120"/>
              </a:rPr>
              <a:t>Compression-Based Trust Verification of Lightweight Ciphers Deployed in Nano-IoT Communication Standards</a:t>
            </a:r>
            <a:endParaRPr lang="en-US" sz="6300" dirty="0"/>
          </a:p>
        </p:txBody>
      </p:sp>
      <p:sp>
        <p:nvSpPr>
          <p:cNvPr id="7" name="Text 5"/>
          <p:cNvSpPr/>
          <p:nvPr/>
        </p:nvSpPr>
        <p:spPr>
          <a:xfrm>
            <a:off x="1143000" y="6176963"/>
            <a:ext cx="10988040" cy="876300"/>
          </a:xfrm>
          <a:prstGeom prst="rect">
            <a:avLst/>
          </a:prstGeom>
          <a:noFill/>
          <a:ln/>
        </p:spPr>
        <p:txBody>
          <a:bodyPr wrap="square" lIns="25400" tIns="25400" rIns="25400" bIns="25400" rtlCol="0" anchor="t">
            <a:normAutofit/>
          </a:bodyPr>
          <a:lstStyle/>
          <a:p>
            <a:pPr marL="0" indent="0" algn="l">
              <a:lnSpc>
                <a:spcPct val="155000"/>
              </a:lnSpc>
              <a:buNone/>
            </a:pPr>
            <a:r>
              <a:rPr lang="en-US" sz="2175" dirty="0">
                <a:solidFill>
                  <a:srgbClr val="C9C3B8"/>
                </a:solidFill>
                <a:latin typeface="Arial" pitchFamily="34" charset="0"/>
                <a:ea typeface="Arial" pitchFamily="34" charset="-122"/>
                <a:cs typeface="Arial" pitchFamily="34" charset="-120"/>
              </a:rPr>
              <a:t>A general method for surfacing hidden structure in data — pointed at the ciphers running inside billions of un-patchable nano-scale devices.</a:t>
            </a:r>
            <a:endParaRPr lang="en-US" sz="2175" dirty="0"/>
          </a:p>
        </p:txBody>
      </p:sp>
      <p:sp>
        <p:nvSpPr>
          <p:cNvPr id="8" name="Shape 6"/>
          <p:cNvSpPr/>
          <p:nvPr/>
        </p:nvSpPr>
        <p:spPr>
          <a:xfrm>
            <a:off x="1143000" y="8410575"/>
            <a:ext cx="16002000" cy="9525"/>
          </a:xfrm>
          <a:prstGeom prst="rect">
            <a:avLst/>
          </a:prstGeom>
          <a:solidFill>
            <a:srgbClr val="36312A"/>
          </a:solidFill>
          <a:ln/>
        </p:spPr>
        <p:txBody>
          <a:bodyPr/>
          <a:lstStyle/>
          <a:p>
            <a:endParaRPr lang="de-DE"/>
          </a:p>
        </p:txBody>
      </p:sp>
      <p:sp>
        <p:nvSpPr>
          <p:cNvPr id="9" name="Text 7"/>
          <p:cNvSpPr/>
          <p:nvPr/>
        </p:nvSpPr>
        <p:spPr>
          <a:xfrm>
            <a:off x="1143000" y="8705850"/>
            <a:ext cx="4829145" cy="381000"/>
          </a:xfrm>
          <a:prstGeom prst="rect">
            <a:avLst/>
          </a:prstGeom>
          <a:noFill/>
          <a:ln/>
        </p:spPr>
        <p:txBody>
          <a:bodyPr wrap="square" lIns="25400" tIns="25400" rIns="25400" bIns="25400" rtlCol="0" anchor="t">
            <a:normAutofit/>
          </a:bodyPr>
          <a:lstStyle/>
          <a:p>
            <a:pPr marL="0" indent="0" algn="l">
              <a:buNone/>
            </a:pPr>
            <a:r>
              <a:rPr lang="en-US" sz="2250" dirty="0">
                <a:solidFill>
                  <a:srgbClr val="F4F3EE"/>
                </a:solidFill>
                <a:latin typeface="Arial" pitchFamily="34" charset="0"/>
                <a:ea typeface="Arial" pitchFamily="34" charset="-122"/>
                <a:cs typeface="Arial" pitchFamily="34" charset="-120"/>
              </a:rPr>
              <a:t>David Tom Foss</a:t>
            </a:r>
            <a:endParaRPr lang="en-US" sz="2250" dirty="0"/>
          </a:p>
        </p:txBody>
      </p:sp>
      <p:sp>
        <p:nvSpPr>
          <p:cNvPr id="10" name="Text 8"/>
          <p:cNvSpPr/>
          <p:nvPr/>
        </p:nvSpPr>
        <p:spPr>
          <a:xfrm>
            <a:off x="1143000" y="9115425"/>
            <a:ext cx="4829145" cy="314325"/>
          </a:xfrm>
          <a:prstGeom prst="rect">
            <a:avLst/>
          </a:prstGeom>
          <a:noFill/>
          <a:ln/>
        </p:spPr>
        <p:txBody>
          <a:bodyPr wrap="square" lIns="25400" tIns="25400" rIns="25400" bIns="25400" rtlCol="0" anchor="t">
            <a:normAutofit/>
          </a:bodyPr>
          <a:lstStyle/>
          <a:p>
            <a:pPr marL="0" indent="0" algn="l">
              <a:buNone/>
            </a:pPr>
            <a:r>
              <a:rPr lang="en-US" sz="1800" kern="0" spc="18" dirty="0">
                <a:solidFill>
                  <a:srgbClr val="9A9388"/>
                </a:solidFill>
                <a:latin typeface="Arial" pitchFamily="34" charset="0"/>
                <a:ea typeface="Arial" pitchFamily="34" charset="-122"/>
                <a:cs typeface="Arial" pitchFamily="34" charset="-120"/>
              </a:rPr>
              <a:t>Independent researcher · d.foss@ieee.org</a:t>
            </a:r>
            <a:endParaRPr lang="en-US" sz="1800" dirty="0"/>
          </a:p>
        </p:txBody>
      </p:sp>
      <p:sp>
        <p:nvSpPr>
          <p:cNvPr id="11" name="Text 9"/>
          <p:cNvSpPr/>
          <p:nvPr/>
        </p:nvSpPr>
        <p:spPr>
          <a:xfrm>
            <a:off x="14758988" y="8839200"/>
            <a:ext cx="2386013" cy="590550"/>
          </a:xfrm>
          <a:prstGeom prst="rect">
            <a:avLst/>
          </a:prstGeom>
          <a:noFill/>
          <a:ln/>
        </p:spPr>
        <p:txBody>
          <a:bodyPr wrap="square" lIns="25400" tIns="25400" rIns="25400" bIns="25400" rtlCol="0" anchor="t">
            <a:normAutofit/>
          </a:bodyPr>
          <a:lstStyle/>
          <a:p>
            <a:pPr marL="0" indent="0" algn="r">
              <a:buNone/>
            </a:pPr>
            <a:r>
              <a:rPr lang="en-US" sz="1800" kern="0" spc="18" dirty="0">
                <a:solidFill>
                  <a:srgbClr val="6E665B"/>
                </a:solidFill>
                <a:latin typeface="Arial" pitchFamily="34" charset="0"/>
                <a:ea typeface="Arial" pitchFamily="34" charset="-122"/>
                <a:cs typeface="Arial" pitchFamily="34" charset="-120"/>
              </a:rPr>
              <a:t>41 ciphers · 9 families one ISO family broken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655719"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02 — THE LINEAGE</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924050"/>
            <a:ext cx="17602200" cy="666750"/>
          </a:xfrm>
          <a:prstGeom prst="rect">
            <a:avLst/>
          </a:prstGeom>
          <a:noFill/>
          <a:ln/>
        </p:spPr>
        <p:txBody>
          <a:bodyPr wrap="square" lIns="25400" tIns="25400" rIns="25400" bIns="25400" rtlCol="0" anchor="t">
            <a:normAutofit/>
          </a:bodyPr>
          <a:lstStyle/>
          <a:p>
            <a:pPr marL="0" indent="0" algn="l">
              <a:lnSpc>
                <a:spcPct val="104000"/>
              </a:lnSpc>
              <a:buNone/>
            </a:pPr>
            <a:r>
              <a:rPr lang="en-US" sz="4800" kern="0" spc="-58" dirty="0">
                <a:solidFill>
                  <a:srgbClr val="1A1714"/>
                </a:solidFill>
                <a:latin typeface="Georgia" pitchFamily="34" charset="0"/>
                <a:ea typeface="Georgia" pitchFamily="34" charset="-122"/>
                <a:cs typeface="Georgia" pitchFamily="34" charset="-120"/>
              </a:rPr>
              <a:t>A general method, pointed at ciphers</a:t>
            </a:r>
            <a:endParaRPr lang="en-US" sz="4800" dirty="0"/>
          </a:p>
        </p:txBody>
      </p:sp>
      <p:sp>
        <p:nvSpPr>
          <p:cNvPr id="6" name="Text 4"/>
          <p:cNvSpPr/>
          <p:nvPr/>
        </p:nvSpPr>
        <p:spPr>
          <a:xfrm>
            <a:off x="1143000" y="2705100"/>
            <a:ext cx="9133655" cy="1152525"/>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6A625A"/>
                </a:solidFill>
                <a:latin typeface="Arial" pitchFamily="34" charset="0"/>
                <a:ea typeface="Arial" pitchFamily="34" charset="-122"/>
                <a:cs typeface="Arial" pitchFamily="34" charset="-120"/>
              </a:rPr>
              <a:t>This work didn’t begin in cryptography. It began with a way to make hidden structure in data </a:t>
            </a:r>
            <a:r>
              <a:rPr lang="en-US" sz="2025" i="1" dirty="0">
                <a:solidFill>
                  <a:srgbClr val="6A625A"/>
                </a:solidFill>
                <a:latin typeface="Arial" pitchFamily="34" charset="0"/>
                <a:ea typeface="Arial" pitchFamily="34" charset="-122"/>
                <a:cs typeface="Arial" pitchFamily="34" charset="-120"/>
              </a:rPr>
              <a:t>measurable </a:t>
            </a:r>
            <a:r>
              <a:rPr lang="en-US" sz="2025" dirty="0">
                <a:solidFill>
                  <a:srgbClr val="6A625A"/>
                </a:solidFill>
                <a:latin typeface="Arial" pitchFamily="34" charset="0"/>
                <a:ea typeface="Arial" pitchFamily="34" charset="-122"/>
                <a:cs typeface="Arial" pitchFamily="34" charset="-120"/>
              </a:rPr>
              <a:t>— then aimed it at the one place structure should never appear.</a:t>
            </a:r>
            <a:endParaRPr lang="en-US" sz="2025" dirty="0"/>
          </a:p>
        </p:txBody>
      </p:sp>
      <p:sp>
        <p:nvSpPr>
          <p:cNvPr id="7" name="Shape 5"/>
          <p:cNvSpPr/>
          <p:nvPr/>
        </p:nvSpPr>
        <p:spPr>
          <a:xfrm>
            <a:off x="1143000" y="5629275"/>
            <a:ext cx="16002000" cy="9525"/>
          </a:xfrm>
          <a:prstGeom prst="rect">
            <a:avLst/>
          </a:prstGeom>
          <a:solidFill>
            <a:srgbClr val="DCD6CA"/>
          </a:solidFill>
          <a:ln/>
        </p:spPr>
        <p:txBody>
          <a:bodyPr/>
          <a:lstStyle/>
          <a:p>
            <a:endParaRPr lang="de-DE"/>
          </a:p>
        </p:txBody>
      </p:sp>
      <p:sp>
        <p:nvSpPr>
          <p:cNvPr id="8" name="Text 6"/>
          <p:cNvSpPr/>
          <p:nvPr/>
        </p:nvSpPr>
        <p:spPr>
          <a:xfrm>
            <a:off x="1143000" y="4362450"/>
            <a:ext cx="3143250" cy="276225"/>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938A7E"/>
                </a:solidFill>
                <a:latin typeface="Arial" pitchFamily="34" charset="0"/>
                <a:ea typeface="Arial" pitchFamily="34" charset="-122"/>
                <a:cs typeface="Arial" pitchFamily="34" charset="-120"/>
              </a:rPr>
              <a:t>THE ORIGIN</a:t>
            </a:r>
            <a:endParaRPr lang="en-US" sz="1500" dirty="0"/>
          </a:p>
        </p:txBody>
      </p:sp>
      <p:sp>
        <p:nvSpPr>
          <p:cNvPr id="9" name="Text 7"/>
          <p:cNvSpPr/>
          <p:nvPr/>
        </p:nvSpPr>
        <p:spPr>
          <a:xfrm>
            <a:off x="1143000" y="4714875"/>
            <a:ext cx="3143250" cy="628650"/>
          </a:xfrm>
          <a:prstGeom prst="rect">
            <a:avLst/>
          </a:prstGeom>
          <a:noFill/>
          <a:ln/>
        </p:spPr>
        <p:txBody>
          <a:bodyPr wrap="square" lIns="25400" tIns="25400" rIns="25400" bIns="25400" rtlCol="0" anchor="t">
            <a:normAutofit/>
          </a:bodyPr>
          <a:lstStyle/>
          <a:p>
            <a:pPr marL="0" indent="0" algn="l">
              <a:buNone/>
            </a:pPr>
            <a:r>
              <a:rPr lang="en-US" sz="4050" dirty="0">
                <a:solidFill>
                  <a:srgbClr val="1A1714"/>
                </a:solidFill>
                <a:latin typeface="Georgia" pitchFamily="34" charset="0"/>
                <a:ea typeface="Georgia" pitchFamily="34" charset="-122"/>
                <a:cs typeface="Georgia" pitchFamily="34" charset="-120"/>
              </a:rPr>
              <a:t>.causal</a:t>
            </a:r>
            <a:endParaRPr lang="en-US" sz="4050" dirty="0"/>
          </a:p>
        </p:txBody>
      </p:sp>
      <p:sp>
        <p:nvSpPr>
          <p:cNvPr id="10" name="Text 8"/>
          <p:cNvSpPr/>
          <p:nvPr/>
        </p:nvSpPr>
        <p:spPr>
          <a:xfrm>
            <a:off x="4610100" y="4267200"/>
            <a:ext cx="12910947" cy="800100"/>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1A1714"/>
                </a:solidFill>
                <a:latin typeface="Arial" pitchFamily="34" charset="0"/>
                <a:ea typeface="Arial" pitchFamily="34" charset="-122"/>
                <a:cs typeface="Arial" pitchFamily="34" charset="-120"/>
              </a:rPr>
              <a:t>A general format that surfaces faint, hidden structure in data — </a:t>
            </a:r>
            <a:r>
              <a:rPr lang="en-US" sz="2025" i="1" dirty="0">
                <a:solidFill>
                  <a:srgbClr val="1A1714"/>
                </a:solidFill>
                <a:latin typeface="Arial" pitchFamily="34" charset="0"/>
                <a:ea typeface="Arial" pitchFamily="34" charset="-122"/>
                <a:cs typeface="Arial" pitchFamily="34" charset="-120"/>
              </a:rPr>
              <a:t>“a PCR test for data.” </a:t>
            </a:r>
            <a:r>
              <a:rPr lang="en-US" sz="2025" dirty="0">
                <a:solidFill>
                  <a:srgbClr val="1A1714"/>
                </a:solidFill>
                <a:latin typeface="Arial" pitchFamily="34" charset="0"/>
                <a:ea typeface="Arial" pitchFamily="34" charset="-122"/>
                <a:cs typeface="Arial" pitchFamily="34" charset="-120"/>
              </a:rPr>
              <a:t>Built for domains like nuclear physics and genomics, with no connection to cryptography.</a:t>
            </a:r>
            <a:endParaRPr lang="en-US" sz="2025" dirty="0"/>
          </a:p>
        </p:txBody>
      </p:sp>
      <p:sp>
        <p:nvSpPr>
          <p:cNvPr id="11" name="Text 9"/>
          <p:cNvSpPr/>
          <p:nvPr/>
        </p:nvSpPr>
        <p:spPr>
          <a:xfrm>
            <a:off x="902970" y="5905500"/>
            <a:ext cx="16482060" cy="371475"/>
          </a:xfrm>
          <a:prstGeom prst="rect">
            <a:avLst/>
          </a:prstGeom>
          <a:noFill/>
          <a:ln/>
        </p:spPr>
        <p:txBody>
          <a:bodyPr wrap="square" lIns="25400" tIns="25400" rIns="25400" bIns="25400" rtlCol="0" anchor="t">
            <a:normAutofit/>
          </a:bodyPr>
          <a:lstStyle/>
          <a:p>
            <a:pPr marL="0" indent="0" algn="ctr">
              <a:buNone/>
            </a:pPr>
            <a:r>
              <a:rPr lang="en-US" sz="2250" i="1" dirty="0">
                <a:solidFill>
                  <a:srgbClr val="6A625A"/>
                </a:solidFill>
                <a:latin typeface="Georgia" pitchFamily="34" charset="0"/>
                <a:ea typeface="Georgia" pitchFamily="34" charset="-122"/>
                <a:cs typeface="Georgia" pitchFamily="34" charset="-120"/>
              </a:rPr>
              <a:t>Point it at encrypted output — which must look like pure randomness — and it becomes a cipher test.</a:t>
            </a:r>
            <a:endParaRPr lang="en-US" sz="2250" dirty="0"/>
          </a:p>
        </p:txBody>
      </p:sp>
      <p:sp>
        <p:nvSpPr>
          <p:cNvPr id="12" name="Shape 10"/>
          <p:cNvSpPr/>
          <p:nvPr/>
        </p:nvSpPr>
        <p:spPr>
          <a:xfrm>
            <a:off x="1143000" y="6505575"/>
            <a:ext cx="16002000" cy="9525"/>
          </a:xfrm>
          <a:prstGeom prst="rect">
            <a:avLst/>
          </a:prstGeom>
          <a:solidFill>
            <a:srgbClr val="DCD6CA"/>
          </a:solidFill>
          <a:ln/>
        </p:spPr>
        <p:txBody>
          <a:bodyPr/>
          <a:lstStyle/>
          <a:p>
            <a:endParaRPr lang="de-DE"/>
          </a:p>
        </p:txBody>
      </p:sp>
      <p:sp>
        <p:nvSpPr>
          <p:cNvPr id="13" name="Text 11"/>
          <p:cNvSpPr/>
          <p:nvPr/>
        </p:nvSpPr>
        <p:spPr>
          <a:xfrm>
            <a:off x="1143000" y="6838950"/>
            <a:ext cx="8167211" cy="276225"/>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2C6CA6"/>
                </a:solidFill>
                <a:latin typeface="Arial" pitchFamily="34" charset="0"/>
                <a:ea typeface="Arial" pitchFamily="34" charset="-122"/>
                <a:cs typeface="Arial" pitchFamily="34" charset="-120"/>
              </a:rPr>
              <a:t>THE METRIC</a:t>
            </a:r>
            <a:endParaRPr lang="en-US" sz="1500" dirty="0"/>
          </a:p>
        </p:txBody>
      </p:sp>
      <p:sp>
        <p:nvSpPr>
          <p:cNvPr id="14" name="Text 12"/>
          <p:cNvSpPr/>
          <p:nvPr/>
        </p:nvSpPr>
        <p:spPr>
          <a:xfrm>
            <a:off x="1143000" y="7191375"/>
            <a:ext cx="8167211" cy="552450"/>
          </a:xfrm>
          <a:prstGeom prst="rect">
            <a:avLst/>
          </a:prstGeom>
          <a:noFill/>
          <a:ln/>
        </p:spPr>
        <p:txBody>
          <a:bodyPr wrap="square" lIns="25400" tIns="25400" rIns="25400" bIns="25400" rtlCol="0" anchor="t">
            <a:normAutofit/>
          </a:bodyPr>
          <a:lstStyle/>
          <a:p>
            <a:pPr marL="0" indent="0" algn="l">
              <a:buNone/>
            </a:pPr>
            <a:r>
              <a:rPr lang="en-US" sz="3450" dirty="0">
                <a:solidFill>
                  <a:srgbClr val="1A1714"/>
                </a:solidFill>
                <a:latin typeface="Georgia" pitchFamily="34" charset="0"/>
                <a:ea typeface="Georgia" pitchFamily="34" charset="-122"/>
                <a:cs typeface="Georgia" pitchFamily="34" charset="-120"/>
              </a:rPr>
              <a:t>CASI</a:t>
            </a:r>
            <a:endParaRPr lang="en-US" sz="3450" dirty="0"/>
          </a:p>
        </p:txBody>
      </p:sp>
      <p:sp>
        <p:nvSpPr>
          <p:cNvPr id="15" name="Text 13"/>
          <p:cNvSpPr/>
          <p:nvPr/>
        </p:nvSpPr>
        <p:spPr>
          <a:xfrm>
            <a:off x="1143000" y="7820025"/>
            <a:ext cx="7647480" cy="723900"/>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6A625A"/>
                </a:solidFill>
                <a:latin typeface="Arial" pitchFamily="34" charset="0"/>
                <a:ea typeface="Arial" pitchFamily="34" charset="-122"/>
                <a:cs typeface="Arial" pitchFamily="34" charset="-120"/>
              </a:rPr>
              <a:t>Is the output compressible beyond chance? One number — </a:t>
            </a:r>
            <a:r>
              <a:rPr lang="en-US" sz="1875" b="1" dirty="0">
                <a:solidFill>
                  <a:srgbClr val="1A1714"/>
                </a:solidFill>
                <a:latin typeface="Arial" pitchFamily="34" charset="0"/>
                <a:ea typeface="Arial" pitchFamily="34" charset="-122"/>
                <a:cs typeface="Arial" pitchFamily="34" charset="-120"/>
              </a:rPr>
              <a:t>≈ 1 </a:t>
            </a:r>
            <a:r>
              <a:rPr lang="en-US" sz="1875" dirty="0">
                <a:solidFill>
                  <a:srgbClr val="6A625A"/>
                </a:solidFill>
                <a:latin typeface="Arial" pitchFamily="34" charset="0"/>
                <a:ea typeface="Arial" pitchFamily="34" charset="-122"/>
                <a:cs typeface="Arial" pitchFamily="34" charset="-120"/>
              </a:rPr>
              <a:t>secure, </a:t>
            </a:r>
            <a:r>
              <a:rPr lang="en-US" sz="1875" b="1" dirty="0">
                <a:solidFill>
                  <a:srgbClr val="1A1714"/>
                </a:solidFill>
                <a:latin typeface="Arial" pitchFamily="34" charset="0"/>
                <a:ea typeface="Arial" pitchFamily="34" charset="-122"/>
                <a:cs typeface="Arial" pitchFamily="34" charset="-120"/>
              </a:rPr>
              <a:t>&gt; 2 </a:t>
            </a:r>
            <a:r>
              <a:rPr lang="en-US" sz="1875" dirty="0">
                <a:solidFill>
                  <a:srgbClr val="6A625A"/>
                </a:solidFill>
                <a:latin typeface="Arial" pitchFamily="34" charset="0"/>
                <a:ea typeface="Arial" pitchFamily="34" charset="-122"/>
                <a:cs typeface="Arial" pitchFamily="34" charset="-120"/>
              </a:rPr>
              <a:t>exploitable.</a:t>
            </a:r>
            <a:endParaRPr lang="en-US" sz="1875" dirty="0"/>
          </a:p>
        </p:txBody>
      </p:sp>
      <p:sp>
        <p:nvSpPr>
          <p:cNvPr id="16" name="Shape 14"/>
          <p:cNvSpPr/>
          <p:nvPr/>
        </p:nvSpPr>
        <p:spPr>
          <a:xfrm>
            <a:off x="9139238" y="6838950"/>
            <a:ext cx="9525" cy="1666875"/>
          </a:xfrm>
          <a:prstGeom prst="rect">
            <a:avLst/>
          </a:prstGeom>
          <a:solidFill>
            <a:srgbClr val="DCD6CA"/>
          </a:solidFill>
          <a:ln/>
        </p:spPr>
        <p:txBody>
          <a:bodyPr/>
          <a:lstStyle/>
          <a:p>
            <a:endParaRPr lang="de-DE"/>
          </a:p>
        </p:txBody>
      </p:sp>
      <p:sp>
        <p:nvSpPr>
          <p:cNvPr id="17" name="Text 15"/>
          <p:cNvSpPr/>
          <p:nvPr/>
        </p:nvSpPr>
        <p:spPr>
          <a:xfrm>
            <a:off x="9720263" y="6838950"/>
            <a:ext cx="8167211" cy="276225"/>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BC4226"/>
                </a:solidFill>
                <a:latin typeface="Arial" pitchFamily="34" charset="0"/>
                <a:ea typeface="Arial" pitchFamily="34" charset="-122"/>
                <a:cs typeface="Arial" pitchFamily="34" charset="-120"/>
              </a:rPr>
              <a:t>THE MECHANISM</a:t>
            </a:r>
            <a:endParaRPr lang="en-US" sz="1500" dirty="0"/>
          </a:p>
        </p:txBody>
      </p:sp>
      <p:sp>
        <p:nvSpPr>
          <p:cNvPr id="18" name="Text 16"/>
          <p:cNvSpPr/>
          <p:nvPr/>
        </p:nvSpPr>
        <p:spPr>
          <a:xfrm>
            <a:off x="9720263" y="7191375"/>
            <a:ext cx="8167211" cy="552450"/>
          </a:xfrm>
          <a:prstGeom prst="rect">
            <a:avLst/>
          </a:prstGeom>
          <a:noFill/>
          <a:ln/>
        </p:spPr>
        <p:txBody>
          <a:bodyPr wrap="square" lIns="25400" tIns="25400" rIns="25400" bIns="25400" rtlCol="0" anchor="t">
            <a:normAutofit/>
          </a:bodyPr>
          <a:lstStyle/>
          <a:p>
            <a:pPr marL="0" indent="0" algn="l">
              <a:buNone/>
            </a:pPr>
            <a:r>
              <a:rPr lang="en-US" sz="3450" dirty="0">
                <a:solidFill>
                  <a:srgbClr val="1A1714"/>
                </a:solidFill>
                <a:latin typeface="Georgia" pitchFamily="34" charset="0"/>
                <a:ea typeface="Georgia" pitchFamily="34" charset="-122"/>
                <a:cs typeface="Georgia" pitchFamily="34" charset="-120"/>
              </a:rPr>
              <a:t>F8</a:t>
            </a:r>
            <a:endParaRPr lang="en-US" sz="3450" dirty="0"/>
          </a:p>
        </p:txBody>
      </p:sp>
      <p:sp>
        <p:nvSpPr>
          <p:cNvPr id="19" name="Text 17"/>
          <p:cNvSpPr/>
          <p:nvPr/>
        </p:nvSpPr>
        <p:spPr>
          <a:xfrm>
            <a:off x="9720263" y="7820025"/>
            <a:ext cx="7647480" cy="723900"/>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6A625A"/>
                </a:solidFill>
                <a:latin typeface="Arial" pitchFamily="34" charset="0"/>
                <a:ea typeface="Arial" pitchFamily="34" charset="-122"/>
                <a:cs typeface="Arial" pitchFamily="34" charset="-120"/>
              </a:rPr>
              <a:t>When a cipher </a:t>
            </a:r>
            <a:r>
              <a:rPr lang="en-US" sz="1875" i="1" dirty="0">
                <a:solidFill>
                  <a:srgbClr val="6A625A"/>
                </a:solidFill>
                <a:latin typeface="Arial" pitchFamily="34" charset="0"/>
                <a:ea typeface="Arial" pitchFamily="34" charset="-122"/>
                <a:cs typeface="Arial" pitchFamily="34" charset="-120"/>
              </a:rPr>
              <a:t>does </a:t>
            </a:r>
            <a:r>
              <a:rPr lang="en-US" sz="1875" dirty="0">
                <a:solidFill>
                  <a:srgbClr val="6A625A"/>
                </a:solidFill>
                <a:latin typeface="Arial" pitchFamily="34" charset="0"/>
                <a:ea typeface="Arial" pitchFamily="34" charset="-122"/>
                <a:cs typeface="Arial" pitchFamily="34" charset="-120"/>
              </a:rPr>
              <a:t>leak, F8 pinpoints exactly why — and predicts it with an exact law.</a:t>
            </a:r>
            <a:endParaRPr lang="en-US" sz="1875" dirty="0"/>
          </a:p>
        </p:txBody>
      </p:sp>
      <p:sp>
        <p:nvSpPr>
          <p:cNvPr id="20" name="Shape 18"/>
          <p:cNvSpPr/>
          <p:nvPr/>
        </p:nvSpPr>
        <p:spPr>
          <a:xfrm>
            <a:off x="1143000" y="8877300"/>
            <a:ext cx="16002000" cy="9525"/>
          </a:xfrm>
          <a:prstGeom prst="rect">
            <a:avLst/>
          </a:prstGeom>
          <a:solidFill>
            <a:srgbClr val="DCD6CA"/>
          </a:solidFill>
          <a:ln/>
        </p:spPr>
        <p:txBody>
          <a:bodyPr/>
          <a:lstStyle/>
          <a:p>
            <a:endParaRPr lang="de-DE"/>
          </a:p>
        </p:txBody>
      </p:sp>
      <p:sp>
        <p:nvSpPr>
          <p:cNvPr id="21" name="Text 19"/>
          <p:cNvSpPr/>
          <p:nvPr/>
        </p:nvSpPr>
        <p:spPr>
          <a:xfrm>
            <a:off x="1143000" y="9115425"/>
            <a:ext cx="16482060" cy="314325"/>
          </a:xfrm>
          <a:prstGeom prst="rect">
            <a:avLst/>
          </a:prstGeom>
          <a:noFill/>
          <a:ln/>
        </p:spPr>
        <p:txBody>
          <a:bodyPr wrap="square" lIns="25400" tIns="25400" rIns="25400" bIns="25400" rtlCol="0" anchor="t">
            <a:normAutofit/>
          </a:bodyPr>
          <a:lstStyle/>
          <a:p>
            <a:pPr marL="0" indent="0" algn="l">
              <a:buNone/>
            </a:pPr>
            <a:r>
              <a:rPr lang="en-US" sz="1800" dirty="0">
                <a:solidFill>
                  <a:srgbClr val="6A625A"/>
                </a:solidFill>
                <a:latin typeface="Arial" pitchFamily="34" charset="0"/>
                <a:ea typeface="Arial" pitchFamily="34" charset="-122"/>
                <a:cs typeface="Arial" pitchFamily="34" charset="-120"/>
              </a:rPr>
              <a:t>Applied together to </a:t>
            </a:r>
            <a:r>
              <a:rPr lang="en-US" sz="1800" b="1" dirty="0">
                <a:solidFill>
                  <a:srgbClr val="1A1714"/>
                </a:solidFill>
                <a:latin typeface="Arial" pitchFamily="34" charset="0"/>
                <a:ea typeface="Arial" pitchFamily="34" charset="-122"/>
                <a:cs typeface="Arial" pitchFamily="34" charset="-120"/>
              </a:rPr>
              <a:t>41 standardized ciphers </a:t>
            </a:r>
            <a:r>
              <a:rPr lang="en-US" sz="1800" dirty="0">
                <a:solidFill>
                  <a:srgbClr val="6A625A"/>
                </a:solidFill>
                <a:latin typeface="Arial" pitchFamily="34" charset="0"/>
                <a:ea typeface="Arial" pitchFamily="34" charset="-122"/>
                <a:cs typeface="Arial" pitchFamily="34" charset="-120"/>
              </a:rPr>
              <a:t>— the largest full-round study of its kind.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795364"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03 — THE PROBLEM</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3014663"/>
            <a:ext cx="8525542" cy="1543050"/>
          </a:xfrm>
          <a:prstGeom prst="rect">
            <a:avLst/>
          </a:prstGeom>
          <a:noFill/>
          <a:ln/>
        </p:spPr>
        <p:txBody>
          <a:bodyPr wrap="square" lIns="25400" tIns="25400" rIns="25400" bIns="25400" rtlCol="0" anchor="t">
            <a:normAutofit/>
          </a:bodyPr>
          <a:lstStyle/>
          <a:p>
            <a:pPr marL="0" indent="0" algn="l">
              <a:lnSpc>
                <a:spcPct val="104000"/>
              </a:lnSpc>
              <a:buNone/>
            </a:pPr>
            <a:r>
              <a:rPr lang="en-US" sz="5700" kern="0" spc="-68" dirty="0">
                <a:solidFill>
                  <a:srgbClr val="1A1714"/>
                </a:solidFill>
                <a:latin typeface="Georgia" pitchFamily="34" charset="0"/>
                <a:ea typeface="Georgia" pitchFamily="34" charset="-122"/>
                <a:cs typeface="Georgia" pitchFamily="34" charset="-120"/>
              </a:rPr>
              <a:t>The endpoint you can never patch</a:t>
            </a:r>
            <a:endParaRPr lang="en-US" sz="5700" dirty="0"/>
          </a:p>
        </p:txBody>
      </p:sp>
      <p:sp>
        <p:nvSpPr>
          <p:cNvPr id="6" name="Text 4"/>
          <p:cNvSpPr/>
          <p:nvPr/>
        </p:nvSpPr>
        <p:spPr>
          <a:xfrm>
            <a:off x="10372725" y="2767013"/>
            <a:ext cx="6975443" cy="1790700"/>
          </a:xfrm>
          <a:prstGeom prst="rect">
            <a:avLst/>
          </a:prstGeom>
          <a:noFill/>
          <a:ln/>
        </p:spPr>
        <p:txBody>
          <a:bodyPr wrap="square" lIns="25400" tIns="25400" rIns="25400" bIns="25400" rtlCol="0" anchor="t">
            <a:normAutofit/>
          </a:bodyPr>
          <a:lstStyle/>
          <a:p>
            <a:pPr marL="0" indent="0" algn="l">
              <a:lnSpc>
                <a:spcPct val="150000"/>
              </a:lnSpc>
              <a:buNone/>
            </a:pPr>
            <a:r>
              <a:rPr lang="en-US" sz="2325" dirty="0">
                <a:solidFill>
                  <a:srgbClr val="6A625A"/>
                </a:solidFill>
                <a:latin typeface="Arial" pitchFamily="34" charset="0"/>
                <a:ea typeface="Arial" pitchFamily="34" charset="-122"/>
                <a:cs typeface="Arial" pitchFamily="34" charset="-120"/>
              </a:rPr>
              <a:t>The Internet of Nano-Things puts </a:t>
            </a:r>
            <a:r>
              <a:rPr lang="en-US" sz="2325" dirty="0">
                <a:solidFill>
                  <a:srgbClr val="1A1714"/>
                </a:solidFill>
                <a:latin typeface="Arial" pitchFamily="34" charset="0"/>
                <a:ea typeface="Arial" pitchFamily="34" charset="-122"/>
                <a:cs typeface="Arial" pitchFamily="34" charset="-120"/>
              </a:rPr>
              <a:t>billions </a:t>
            </a:r>
            <a:r>
              <a:rPr lang="en-US" sz="2325" dirty="0">
                <a:solidFill>
                  <a:srgbClr val="6A625A"/>
                </a:solidFill>
                <a:latin typeface="Arial" pitchFamily="34" charset="0"/>
                <a:ea typeface="Arial" pitchFamily="34" charset="-122"/>
                <a:cs typeface="Arial" pitchFamily="34" charset="-120"/>
              </a:rPr>
              <a:t>of devices into the world too small for ordinary cryptography — RFID nano-tags, embedded nanosensors, sub-milliwatt transceivers.</a:t>
            </a:r>
            <a:endParaRPr lang="en-US" sz="2325" dirty="0"/>
          </a:p>
        </p:txBody>
      </p:sp>
      <p:sp>
        <p:nvSpPr>
          <p:cNvPr id="7" name="Text 5"/>
          <p:cNvSpPr/>
          <p:nvPr/>
        </p:nvSpPr>
        <p:spPr>
          <a:xfrm>
            <a:off x="1143000" y="5186363"/>
            <a:ext cx="1572444" cy="447675"/>
          </a:xfrm>
          <a:prstGeom prst="rect">
            <a:avLst/>
          </a:prstGeom>
          <a:noFill/>
          <a:ln/>
        </p:spPr>
        <p:txBody>
          <a:bodyPr wrap="square" lIns="25400" tIns="25400" rIns="25400" bIns="25400" rtlCol="0" anchor="t">
            <a:normAutofit/>
          </a:bodyPr>
          <a:lstStyle/>
          <a:p>
            <a:pPr marL="0" indent="0" algn="l">
              <a:buNone/>
            </a:pPr>
            <a:r>
              <a:rPr lang="en-US" sz="2700" dirty="0">
                <a:solidFill>
                  <a:srgbClr val="1A1714"/>
                </a:solidFill>
                <a:latin typeface="Arial" pitchFamily="34" charset="0"/>
                <a:ea typeface="Arial" pitchFamily="34" charset="-122"/>
                <a:cs typeface="Arial" pitchFamily="34" charset="-120"/>
              </a:rPr>
              <a:t>Fabricate</a:t>
            </a:r>
            <a:endParaRPr lang="en-US" sz="2700" dirty="0"/>
          </a:p>
        </p:txBody>
      </p:sp>
      <p:sp>
        <p:nvSpPr>
          <p:cNvPr id="8" name="Text 6"/>
          <p:cNvSpPr/>
          <p:nvPr/>
        </p:nvSpPr>
        <p:spPr>
          <a:xfrm>
            <a:off x="1143000" y="5691188"/>
            <a:ext cx="1572444" cy="285750"/>
          </a:xfrm>
          <a:prstGeom prst="rect">
            <a:avLst/>
          </a:prstGeom>
          <a:noFill/>
          <a:ln/>
        </p:spPr>
        <p:txBody>
          <a:bodyPr wrap="square" lIns="25400" tIns="25400" rIns="25400" bIns="25400" rtlCol="0" anchor="t">
            <a:normAutofit/>
          </a:bodyPr>
          <a:lstStyle/>
          <a:p>
            <a:pPr marL="0" indent="0" algn="l">
              <a:buNone/>
            </a:pPr>
            <a:r>
              <a:rPr lang="en-US" sz="1650" kern="0" spc="66" dirty="0">
                <a:solidFill>
                  <a:srgbClr val="938A7E"/>
                </a:solidFill>
                <a:latin typeface="Arial" pitchFamily="34" charset="0"/>
                <a:ea typeface="Arial" pitchFamily="34" charset="-122"/>
                <a:cs typeface="Arial" pitchFamily="34" charset="-120"/>
              </a:rPr>
              <a:t>into silicon</a:t>
            </a:r>
            <a:endParaRPr lang="en-US" sz="1650" dirty="0"/>
          </a:p>
        </p:txBody>
      </p:sp>
      <p:sp>
        <p:nvSpPr>
          <p:cNvPr id="9" name="Shape 7"/>
          <p:cNvSpPr/>
          <p:nvPr/>
        </p:nvSpPr>
        <p:spPr>
          <a:xfrm>
            <a:off x="2915394" y="5443538"/>
            <a:ext cx="4582269" cy="9525"/>
          </a:xfrm>
          <a:prstGeom prst="rect">
            <a:avLst/>
          </a:prstGeom>
          <a:solidFill>
            <a:srgbClr val="DCD6CA"/>
          </a:solidFill>
          <a:ln/>
        </p:spPr>
        <p:txBody>
          <a:bodyPr/>
          <a:lstStyle/>
          <a:p>
            <a:endParaRPr lang="de-DE"/>
          </a:p>
        </p:txBody>
      </p:sp>
      <p:sp>
        <p:nvSpPr>
          <p:cNvPr id="10" name="Text 8"/>
          <p:cNvSpPr/>
          <p:nvPr/>
        </p:nvSpPr>
        <p:spPr>
          <a:xfrm>
            <a:off x="7840563" y="5186363"/>
            <a:ext cx="1143595" cy="447675"/>
          </a:xfrm>
          <a:prstGeom prst="rect">
            <a:avLst/>
          </a:prstGeom>
          <a:noFill/>
          <a:ln/>
        </p:spPr>
        <p:txBody>
          <a:bodyPr wrap="square" lIns="25400" tIns="25400" rIns="25400" bIns="25400" rtlCol="0" anchor="t">
            <a:normAutofit/>
          </a:bodyPr>
          <a:lstStyle/>
          <a:p>
            <a:pPr marL="0" indent="0" algn="l">
              <a:buNone/>
            </a:pPr>
            <a:r>
              <a:rPr lang="en-US" sz="2700" dirty="0">
                <a:solidFill>
                  <a:srgbClr val="1A1714"/>
                </a:solidFill>
                <a:latin typeface="Arial" pitchFamily="34" charset="0"/>
                <a:ea typeface="Arial" pitchFamily="34" charset="-122"/>
                <a:cs typeface="Arial" pitchFamily="34" charset="-120"/>
              </a:rPr>
              <a:t>Deploy</a:t>
            </a:r>
            <a:endParaRPr lang="en-US" sz="2700" dirty="0"/>
          </a:p>
        </p:txBody>
      </p:sp>
      <p:sp>
        <p:nvSpPr>
          <p:cNvPr id="11" name="Text 9"/>
          <p:cNvSpPr/>
          <p:nvPr/>
        </p:nvSpPr>
        <p:spPr>
          <a:xfrm>
            <a:off x="7840563" y="5691188"/>
            <a:ext cx="1143595" cy="285750"/>
          </a:xfrm>
          <a:prstGeom prst="rect">
            <a:avLst/>
          </a:prstGeom>
          <a:noFill/>
          <a:ln/>
        </p:spPr>
        <p:txBody>
          <a:bodyPr wrap="square" lIns="25400" tIns="25400" rIns="25400" bIns="25400" rtlCol="0" anchor="t">
            <a:normAutofit/>
          </a:bodyPr>
          <a:lstStyle/>
          <a:p>
            <a:pPr marL="0" indent="0" algn="l">
              <a:buNone/>
            </a:pPr>
            <a:r>
              <a:rPr lang="en-US" sz="1650" kern="0" spc="66" dirty="0">
                <a:solidFill>
                  <a:srgbClr val="938A7E"/>
                </a:solidFill>
                <a:latin typeface="Arial" pitchFamily="34" charset="0"/>
                <a:ea typeface="Arial" pitchFamily="34" charset="-122"/>
                <a:cs typeface="Arial" pitchFamily="34" charset="-120"/>
              </a:rPr>
              <a:t>in the field</a:t>
            </a:r>
            <a:endParaRPr lang="en-US" sz="1650" dirty="0"/>
          </a:p>
        </p:txBody>
      </p:sp>
      <p:sp>
        <p:nvSpPr>
          <p:cNvPr id="12" name="Shape 10"/>
          <p:cNvSpPr/>
          <p:nvPr/>
        </p:nvSpPr>
        <p:spPr>
          <a:xfrm>
            <a:off x="9250859" y="5443538"/>
            <a:ext cx="4582269" cy="9525"/>
          </a:xfrm>
          <a:prstGeom prst="rect">
            <a:avLst/>
          </a:prstGeom>
          <a:solidFill>
            <a:srgbClr val="DCD6CA"/>
          </a:solidFill>
          <a:ln/>
        </p:spPr>
        <p:txBody>
          <a:bodyPr/>
          <a:lstStyle/>
          <a:p>
            <a:endParaRPr lang="de-DE"/>
          </a:p>
        </p:txBody>
      </p:sp>
      <p:sp>
        <p:nvSpPr>
          <p:cNvPr id="13" name="Text 11"/>
          <p:cNvSpPr/>
          <p:nvPr/>
        </p:nvSpPr>
        <p:spPr>
          <a:xfrm>
            <a:off x="14176028" y="5186363"/>
            <a:ext cx="3266033" cy="447675"/>
          </a:xfrm>
          <a:prstGeom prst="rect">
            <a:avLst/>
          </a:prstGeom>
          <a:noFill/>
          <a:ln/>
        </p:spPr>
        <p:txBody>
          <a:bodyPr wrap="square" lIns="25400" tIns="25400" rIns="25400" bIns="25400" rtlCol="0" anchor="t">
            <a:normAutofit/>
          </a:bodyPr>
          <a:lstStyle/>
          <a:p>
            <a:pPr marL="0" indent="0" algn="l">
              <a:buNone/>
            </a:pPr>
            <a:r>
              <a:rPr lang="en-US" sz="2700" b="1" dirty="0">
                <a:solidFill>
                  <a:srgbClr val="BC4226"/>
                </a:solidFill>
                <a:latin typeface="Arial" pitchFamily="34" charset="0"/>
                <a:ea typeface="Arial" pitchFamily="34" charset="-122"/>
                <a:cs typeface="Arial" pitchFamily="34" charset="-120"/>
              </a:rPr>
              <a:t>Patch — never</a:t>
            </a:r>
            <a:endParaRPr lang="en-US" sz="2700" dirty="0"/>
          </a:p>
        </p:txBody>
      </p:sp>
      <p:sp>
        <p:nvSpPr>
          <p:cNvPr id="14" name="Text 12"/>
          <p:cNvSpPr/>
          <p:nvPr/>
        </p:nvSpPr>
        <p:spPr>
          <a:xfrm>
            <a:off x="14176028" y="5691188"/>
            <a:ext cx="3266033" cy="285750"/>
          </a:xfrm>
          <a:prstGeom prst="rect">
            <a:avLst/>
          </a:prstGeom>
          <a:noFill/>
          <a:ln/>
        </p:spPr>
        <p:txBody>
          <a:bodyPr wrap="square" lIns="25400" tIns="25400" rIns="25400" bIns="25400" rtlCol="0" anchor="t">
            <a:normAutofit/>
          </a:bodyPr>
          <a:lstStyle/>
          <a:p>
            <a:pPr marL="0" indent="0" algn="l">
              <a:buNone/>
            </a:pPr>
            <a:r>
              <a:rPr lang="en-US" sz="1650" kern="0" spc="66" dirty="0">
                <a:solidFill>
                  <a:srgbClr val="BC4226"/>
                </a:solidFill>
                <a:latin typeface="Arial" pitchFamily="34" charset="0"/>
                <a:ea typeface="Arial" pitchFamily="34" charset="-122"/>
                <a:cs typeface="Arial" pitchFamily="34" charset="-120"/>
              </a:rPr>
              <a:t>no update reaches the silicon</a:t>
            </a:r>
            <a:endParaRPr lang="en-US" sz="1650" dirty="0"/>
          </a:p>
        </p:txBody>
      </p:sp>
      <p:sp>
        <p:nvSpPr>
          <p:cNvPr id="15" name="Shape 13"/>
          <p:cNvSpPr/>
          <p:nvPr/>
        </p:nvSpPr>
        <p:spPr>
          <a:xfrm>
            <a:off x="1143000" y="6605588"/>
            <a:ext cx="16002000" cy="9525"/>
          </a:xfrm>
          <a:prstGeom prst="rect">
            <a:avLst/>
          </a:prstGeom>
          <a:solidFill>
            <a:srgbClr val="DCD6CA"/>
          </a:solidFill>
          <a:ln/>
        </p:spPr>
        <p:txBody>
          <a:bodyPr/>
          <a:lstStyle/>
          <a:p>
            <a:endParaRPr lang="de-DE"/>
          </a:p>
        </p:txBody>
      </p:sp>
      <p:sp>
        <p:nvSpPr>
          <p:cNvPr id="16" name="Text 14"/>
          <p:cNvSpPr/>
          <p:nvPr/>
        </p:nvSpPr>
        <p:spPr>
          <a:xfrm>
            <a:off x="1143000" y="6996113"/>
            <a:ext cx="6069635" cy="1552575"/>
          </a:xfrm>
          <a:prstGeom prst="rect">
            <a:avLst/>
          </a:prstGeom>
          <a:noFill/>
          <a:ln/>
        </p:spPr>
        <p:txBody>
          <a:bodyPr wrap="square" lIns="25400" tIns="25400" rIns="25400" bIns="25400" rtlCol="0" anchor="t">
            <a:normAutofit/>
          </a:bodyPr>
          <a:lstStyle/>
          <a:p>
            <a:pPr marL="0" indent="0" algn="l">
              <a:lnSpc>
                <a:spcPct val="128000"/>
              </a:lnSpc>
              <a:buNone/>
            </a:pPr>
            <a:r>
              <a:rPr lang="en-US" sz="3150" dirty="0">
                <a:solidFill>
                  <a:srgbClr val="1A1714"/>
                </a:solidFill>
                <a:latin typeface="Georgia" pitchFamily="34" charset="0"/>
                <a:ea typeface="Georgia" pitchFamily="34" charset="-122"/>
                <a:cs typeface="Georgia" pitchFamily="34" charset="-120"/>
              </a:rPr>
              <a:t>A flaw fabricated into the chip </a:t>
            </a:r>
            <a:r>
              <a:rPr lang="en-US" sz="3150" dirty="0">
                <a:solidFill>
                  <a:srgbClr val="BC4226"/>
                </a:solidFill>
                <a:latin typeface="Georgia" pitchFamily="34" charset="0"/>
                <a:ea typeface="Georgia" pitchFamily="34" charset="-122"/>
                <a:cs typeface="Georgia" pitchFamily="34" charset="-120"/>
              </a:rPr>
              <a:t>persists for the device’s entire lifetime.</a:t>
            </a:r>
            <a:endParaRPr lang="en-US" sz="3150" dirty="0"/>
          </a:p>
        </p:txBody>
      </p:sp>
      <p:sp>
        <p:nvSpPr>
          <p:cNvPr id="17" name="Text 15"/>
          <p:cNvSpPr/>
          <p:nvPr/>
        </p:nvSpPr>
        <p:spPr>
          <a:xfrm>
            <a:off x="12006114" y="7196138"/>
            <a:ext cx="5652775" cy="285750"/>
          </a:xfrm>
          <a:prstGeom prst="rect">
            <a:avLst/>
          </a:prstGeom>
          <a:noFill/>
          <a:ln/>
        </p:spPr>
        <p:txBody>
          <a:bodyPr wrap="none" lIns="25400" tIns="25400" rIns="25400" bIns="25400" rtlCol="0" anchor="t">
            <a:normAutofit/>
          </a:bodyPr>
          <a:lstStyle/>
          <a:p>
            <a:pPr marL="0" indent="0" algn="l">
              <a:buNone/>
            </a:pPr>
            <a:r>
              <a:rPr lang="en-US" sz="1650" kern="0" spc="66" dirty="0">
                <a:solidFill>
                  <a:srgbClr val="6A625A"/>
                </a:solidFill>
                <a:latin typeface="Arial" pitchFamily="34" charset="0"/>
                <a:ea typeface="Arial" pitchFamily="34" charset="-122"/>
                <a:cs typeface="Arial" pitchFamily="34" charset="-120"/>
              </a:rPr>
              <a:t>Standardized in ISO/IEC 29167 · NIST SP 800-232</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092226"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04 — THE IDEA</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809750"/>
            <a:ext cx="6270296" cy="1485900"/>
          </a:xfrm>
          <a:prstGeom prst="rect">
            <a:avLst/>
          </a:prstGeom>
          <a:noFill/>
          <a:ln/>
        </p:spPr>
        <p:txBody>
          <a:bodyPr wrap="square" lIns="25400" tIns="25400" rIns="25400" bIns="25400" rtlCol="0" anchor="t">
            <a:normAutofit/>
          </a:bodyPr>
          <a:lstStyle/>
          <a:p>
            <a:pPr marL="0" indent="0" algn="l">
              <a:lnSpc>
                <a:spcPct val="104000"/>
              </a:lnSpc>
              <a:buNone/>
            </a:pPr>
            <a:r>
              <a:rPr lang="en-US" sz="5550" b="1" kern="0" spc="-122" dirty="0">
                <a:solidFill>
                  <a:srgbClr val="1A1714"/>
                </a:solidFill>
                <a:latin typeface="Georgia" pitchFamily="34" charset="0"/>
                <a:ea typeface="Georgia" pitchFamily="34" charset="-122"/>
                <a:cs typeface="Georgia" pitchFamily="34" charset="-120"/>
              </a:rPr>
              <a:t>Security means incompressibility</a:t>
            </a:r>
            <a:endParaRPr lang="en-US" sz="5550" dirty="0"/>
          </a:p>
        </p:txBody>
      </p:sp>
      <p:sp>
        <p:nvSpPr>
          <p:cNvPr id="6" name="Text 4"/>
          <p:cNvSpPr/>
          <p:nvPr/>
        </p:nvSpPr>
        <p:spPr>
          <a:xfrm>
            <a:off x="12462272" y="1847850"/>
            <a:ext cx="4823210" cy="1447800"/>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6A625A"/>
                </a:solidFill>
                <a:latin typeface="Arial" pitchFamily="34" charset="0"/>
                <a:ea typeface="Arial" pitchFamily="34" charset="-122"/>
                <a:cs typeface="Arial" pitchFamily="34" charset="-120"/>
              </a:rPr>
              <a:t>Random noise has no pattern to exploit — so a compressor cannot shrink it. Any shrinkage that remains is leftover structure.</a:t>
            </a:r>
            <a:endParaRPr lang="en-US" sz="1950" dirty="0"/>
          </a:p>
        </p:txBody>
      </p:sp>
      <p:sp>
        <p:nvSpPr>
          <p:cNvPr id="7" name="Shape 5"/>
          <p:cNvSpPr/>
          <p:nvPr/>
        </p:nvSpPr>
        <p:spPr>
          <a:xfrm>
            <a:off x="1143000" y="5372100"/>
            <a:ext cx="16002000" cy="9525"/>
          </a:xfrm>
          <a:prstGeom prst="rect">
            <a:avLst/>
          </a:prstGeom>
          <a:solidFill>
            <a:srgbClr val="DCD6CA"/>
          </a:solidFill>
          <a:ln/>
        </p:spPr>
        <p:txBody>
          <a:bodyPr/>
          <a:lstStyle/>
          <a:p>
            <a:endParaRPr lang="de-DE"/>
          </a:p>
        </p:txBody>
      </p:sp>
      <p:sp>
        <p:nvSpPr>
          <p:cNvPr id="8" name="Text 6"/>
          <p:cNvSpPr/>
          <p:nvPr/>
        </p:nvSpPr>
        <p:spPr>
          <a:xfrm>
            <a:off x="1181100" y="4067175"/>
            <a:ext cx="2409825" cy="285750"/>
          </a:xfrm>
          <a:prstGeom prst="rect">
            <a:avLst/>
          </a:prstGeom>
          <a:noFill/>
          <a:ln/>
        </p:spPr>
        <p:txBody>
          <a:bodyPr wrap="square" lIns="25400" tIns="25400" rIns="25400" bIns="25400" rtlCol="0" anchor="t">
            <a:normAutofit/>
          </a:bodyPr>
          <a:lstStyle/>
          <a:p>
            <a:pPr marL="0" indent="0" algn="l">
              <a:buNone/>
            </a:pPr>
            <a:r>
              <a:rPr lang="en-US" sz="1650" kern="0" spc="132" dirty="0">
                <a:solidFill>
                  <a:srgbClr val="2E8056"/>
                </a:solidFill>
                <a:latin typeface="Arial" pitchFamily="34" charset="0"/>
                <a:ea typeface="Arial" pitchFamily="34" charset="-122"/>
                <a:cs typeface="Arial" pitchFamily="34" charset="-120"/>
              </a:rPr>
              <a:t>SECURE CIPHER</a:t>
            </a:r>
            <a:endParaRPr lang="en-US" sz="1650" dirty="0"/>
          </a:p>
        </p:txBody>
      </p:sp>
      <p:sp>
        <p:nvSpPr>
          <p:cNvPr id="9" name="Text 7"/>
          <p:cNvSpPr/>
          <p:nvPr/>
        </p:nvSpPr>
        <p:spPr>
          <a:xfrm>
            <a:off x="1181100" y="4391025"/>
            <a:ext cx="2266950" cy="628650"/>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6A625A"/>
                </a:solidFill>
                <a:latin typeface="Arial" pitchFamily="34" charset="0"/>
                <a:ea typeface="Arial" pitchFamily="34" charset="-122"/>
                <a:cs typeface="Arial" pitchFamily="34" charset="-120"/>
              </a:rPr>
              <a:t>output looks fully random</a:t>
            </a:r>
            <a:endParaRPr lang="en-US" sz="1725" dirty="0"/>
          </a:p>
        </p:txBody>
      </p:sp>
      <p:sp>
        <p:nvSpPr>
          <p:cNvPr id="10" name="Shape 8"/>
          <p:cNvSpPr/>
          <p:nvPr/>
        </p:nvSpPr>
        <p:spPr>
          <a:xfrm>
            <a:off x="3714750" y="4229100"/>
            <a:ext cx="4264372" cy="590550"/>
          </a:xfrm>
          <a:prstGeom prst="roundRect">
            <a:avLst>
              <a:gd name="adj" fmla="val 9677"/>
            </a:avLst>
          </a:prstGeom>
          <a:solidFill>
            <a:srgbClr val="EFEEE8"/>
          </a:solidFill>
          <a:ln w="9525">
            <a:solidFill>
              <a:srgbClr val="DCD6CA"/>
            </a:solidFill>
            <a:prstDash val="solid"/>
          </a:ln>
        </p:spPr>
        <p:txBody>
          <a:bodyPr/>
          <a:lstStyle/>
          <a:p>
            <a:endParaRPr lang="de-DE"/>
          </a:p>
        </p:txBody>
      </p:sp>
      <p:sp>
        <p:nvSpPr>
          <p:cNvPr id="11" name="Text 9"/>
          <p:cNvSpPr/>
          <p:nvPr/>
        </p:nvSpPr>
        <p:spPr>
          <a:xfrm>
            <a:off x="3895725" y="4238625"/>
            <a:ext cx="4030353" cy="609600"/>
          </a:xfrm>
          <a:prstGeom prst="rect">
            <a:avLst/>
          </a:prstGeom>
          <a:noFill/>
          <a:ln/>
        </p:spPr>
        <p:txBody>
          <a:bodyPr wrap="none" lIns="25400" tIns="25400" rIns="25400" bIns="25400" rtlCol="0" anchor="ctr">
            <a:normAutofit/>
          </a:bodyPr>
          <a:lstStyle/>
          <a:p>
            <a:pPr marL="0" indent="0" algn="l">
              <a:buNone/>
            </a:pPr>
            <a:r>
              <a:rPr lang="en-US" sz="1575" kern="0" spc="63" dirty="0">
                <a:solidFill>
                  <a:srgbClr val="938A7E"/>
                </a:solidFill>
                <a:latin typeface="Arial" pitchFamily="34" charset="0"/>
                <a:ea typeface="Arial" pitchFamily="34" charset="-122"/>
                <a:cs typeface="Arial" pitchFamily="34" charset="-120"/>
              </a:rPr>
              <a:t>9f·2a·c7·41·e0·b8·5d·3f·a1·6c·92·0e·d4·77·1b·8a·f3·24·9c·50·be·07·a6·dd·31·c8·4f·92·e1·06·bb·7a·2f·c3</a:t>
            </a:r>
            <a:endParaRPr lang="en-US" sz="1575" dirty="0"/>
          </a:p>
        </p:txBody>
      </p:sp>
      <p:sp>
        <p:nvSpPr>
          <p:cNvPr id="12" name="Text 10"/>
          <p:cNvSpPr/>
          <p:nvPr/>
        </p:nvSpPr>
        <p:spPr>
          <a:xfrm>
            <a:off x="8496746" y="4233863"/>
            <a:ext cx="323850" cy="333375"/>
          </a:xfrm>
          <a:prstGeom prst="rect">
            <a:avLst/>
          </a:prstGeom>
          <a:noFill/>
          <a:ln/>
        </p:spPr>
        <p:txBody>
          <a:bodyPr wrap="square" lIns="25400" tIns="25400" rIns="25400" bIns="25400" rtlCol="0" anchor="t">
            <a:normAutofit/>
          </a:bodyPr>
          <a:lstStyle/>
          <a:p>
            <a:pPr marL="0" indent="0" algn="l">
              <a:buNone/>
            </a:pPr>
            <a:r>
              <a:rPr lang="en-US" sz="1950" dirty="0">
                <a:solidFill>
                  <a:srgbClr val="938A7E"/>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8207722" y="4576763"/>
            <a:ext cx="902047" cy="276225"/>
          </a:xfrm>
          <a:prstGeom prst="rect">
            <a:avLst/>
          </a:prstGeom>
          <a:noFill/>
          <a:ln/>
        </p:spPr>
        <p:txBody>
          <a:bodyPr wrap="square" lIns="25400" tIns="25400" rIns="25400" bIns="25400" rtlCol="0" anchor="t">
            <a:normAutofit/>
          </a:bodyPr>
          <a:lstStyle/>
          <a:p>
            <a:pPr marL="0" indent="0" algn="l">
              <a:buNone/>
            </a:pPr>
            <a:r>
              <a:rPr lang="en-US" sz="1500" dirty="0">
                <a:solidFill>
                  <a:srgbClr val="6A625A"/>
                </a:solidFill>
                <a:latin typeface="Arial" pitchFamily="34" charset="0"/>
                <a:ea typeface="Arial" pitchFamily="34" charset="-122"/>
                <a:cs typeface="Arial" pitchFamily="34" charset="-120"/>
              </a:rPr>
              <a:t>compress</a:t>
            </a:r>
            <a:endParaRPr lang="en-US" sz="1500" dirty="0"/>
          </a:p>
        </p:txBody>
      </p:sp>
      <p:sp>
        <p:nvSpPr>
          <p:cNvPr id="14" name="Shape 12"/>
          <p:cNvSpPr/>
          <p:nvPr/>
        </p:nvSpPr>
        <p:spPr>
          <a:xfrm>
            <a:off x="9262170" y="4229100"/>
            <a:ext cx="5120580" cy="590550"/>
          </a:xfrm>
          <a:prstGeom prst="roundRect">
            <a:avLst>
              <a:gd name="adj" fmla="val 9677"/>
            </a:avLst>
          </a:prstGeom>
          <a:solidFill>
            <a:srgbClr val="DEEBE3"/>
          </a:solidFill>
          <a:ln w="9525">
            <a:solidFill>
              <a:srgbClr val="BBD6C7"/>
            </a:solidFill>
            <a:prstDash val="solid"/>
          </a:ln>
        </p:spPr>
        <p:txBody>
          <a:bodyPr/>
          <a:lstStyle/>
          <a:p>
            <a:endParaRPr lang="de-DE"/>
          </a:p>
        </p:txBody>
      </p:sp>
      <p:sp>
        <p:nvSpPr>
          <p:cNvPr id="15" name="Text 13"/>
          <p:cNvSpPr/>
          <p:nvPr/>
        </p:nvSpPr>
        <p:spPr>
          <a:xfrm>
            <a:off x="9443145" y="4238625"/>
            <a:ext cx="4912248" cy="609600"/>
          </a:xfrm>
          <a:prstGeom prst="rect">
            <a:avLst/>
          </a:prstGeom>
          <a:noFill/>
          <a:ln/>
        </p:spPr>
        <p:txBody>
          <a:bodyPr wrap="none" lIns="25400" tIns="25400" rIns="25400" bIns="25400" rtlCol="0" anchor="ctr">
            <a:normAutofit/>
          </a:bodyPr>
          <a:lstStyle/>
          <a:p>
            <a:pPr marL="0" indent="0" algn="l">
              <a:buNone/>
            </a:pPr>
            <a:r>
              <a:rPr lang="en-US" sz="1575" kern="0" spc="63" dirty="0">
                <a:solidFill>
                  <a:srgbClr val="2C6B4E"/>
                </a:solidFill>
                <a:latin typeface="Arial" pitchFamily="34" charset="0"/>
                <a:ea typeface="Arial" pitchFamily="34" charset="-122"/>
                <a:cs typeface="Arial" pitchFamily="34" charset="-120"/>
              </a:rPr>
              <a:t>9f·2a·c7·41·e0·b8·5d·3f·a1·6c·92·0e·d4·77</a:t>
            </a:r>
            <a:endParaRPr lang="en-US" sz="1575" dirty="0"/>
          </a:p>
        </p:txBody>
      </p:sp>
      <p:sp>
        <p:nvSpPr>
          <p:cNvPr id="16" name="Text 14"/>
          <p:cNvSpPr/>
          <p:nvPr/>
        </p:nvSpPr>
        <p:spPr>
          <a:xfrm>
            <a:off x="14487525" y="4000500"/>
            <a:ext cx="2619375" cy="285750"/>
          </a:xfrm>
          <a:prstGeom prst="rect">
            <a:avLst/>
          </a:prstGeom>
          <a:noFill/>
          <a:ln/>
        </p:spPr>
        <p:txBody>
          <a:bodyPr wrap="square" lIns="25400" tIns="25400" rIns="25400" bIns="25400" rtlCol="0" anchor="t">
            <a:normAutofit/>
          </a:bodyPr>
          <a:lstStyle/>
          <a:p>
            <a:pPr marL="0" indent="0" algn="r">
              <a:buNone/>
            </a:pPr>
            <a:r>
              <a:rPr lang="en-US" sz="1575" kern="0" spc="126" dirty="0">
                <a:solidFill>
                  <a:srgbClr val="938A7E"/>
                </a:solidFill>
                <a:latin typeface="Arial" pitchFamily="34" charset="0"/>
                <a:ea typeface="Arial" pitchFamily="34" charset="-122"/>
                <a:cs typeface="Arial" pitchFamily="34" charset="-120"/>
              </a:rPr>
              <a:t>CASI</a:t>
            </a:r>
            <a:endParaRPr lang="en-US" sz="1575" dirty="0"/>
          </a:p>
        </p:txBody>
      </p:sp>
      <p:sp>
        <p:nvSpPr>
          <p:cNvPr id="17" name="Text 15"/>
          <p:cNvSpPr/>
          <p:nvPr/>
        </p:nvSpPr>
        <p:spPr>
          <a:xfrm>
            <a:off x="14487525" y="4248150"/>
            <a:ext cx="2619375" cy="514350"/>
          </a:xfrm>
          <a:prstGeom prst="rect">
            <a:avLst/>
          </a:prstGeom>
          <a:noFill/>
          <a:ln/>
        </p:spPr>
        <p:txBody>
          <a:bodyPr wrap="square" lIns="25400" tIns="25400" rIns="25400" bIns="25400" rtlCol="0" anchor="t">
            <a:normAutofit/>
          </a:bodyPr>
          <a:lstStyle/>
          <a:p>
            <a:pPr marL="0" indent="0" algn="r">
              <a:lnSpc>
                <a:spcPct val="105000"/>
              </a:lnSpc>
              <a:buNone/>
            </a:pPr>
            <a:r>
              <a:rPr lang="en-US" sz="3600" b="1" dirty="0">
                <a:solidFill>
                  <a:srgbClr val="2E8056"/>
                </a:solidFill>
                <a:latin typeface="Arial" pitchFamily="34" charset="0"/>
                <a:ea typeface="Arial" pitchFamily="34" charset="-122"/>
                <a:cs typeface="Arial" pitchFamily="34" charset="-120"/>
              </a:rPr>
              <a:t>≈ 1.0</a:t>
            </a:r>
            <a:endParaRPr lang="en-US" sz="3600" dirty="0"/>
          </a:p>
        </p:txBody>
      </p:sp>
      <p:sp>
        <p:nvSpPr>
          <p:cNvPr id="18" name="Text 16"/>
          <p:cNvSpPr/>
          <p:nvPr/>
        </p:nvSpPr>
        <p:spPr>
          <a:xfrm>
            <a:off x="14487525" y="4800600"/>
            <a:ext cx="2619375" cy="285750"/>
          </a:xfrm>
          <a:prstGeom prst="rect">
            <a:avLst/>
          </a:prstGeom>
          <a:noFill/>
          <a:ln/>
        </p:spPr>
        <p:txBody>
          <a:bodyPr wrap="square" lIns="25400" tIns="25400" rIns="25400" bIns="25400" rtlCol="0" anchor="t">
            <a:normAutofit/>
          </a:bodyPr>
          <a:lstStyle/>
          <a:p>
            <a:pPr marL="0" indent="0" algn="r">
              <a:buNone/>
            </a:pPr>
            <a:r>
              <a:rPr lang="en-US" sz="1650" dirty="0">
                <a:solidFill>
                  <a:srgbClr val="6A625A"/>
                </a:solidFill>
                <a:latin typeface="Arial" pitchFamily="34" charset="0"/>
                <a:ea typeface="Arial" pitchFamily="34" charset="-122"/>
                <a:cs typeface="Arial" pitchFamily="34" charset="-120"/>
              </a:rPr>
              <a:t>barely shrinks · secure</a:t>
            </a:r>
            <a:endParaRPr lang="en-US" sz="1650" dirty="0"/>
          </a:p>
        </p:txBody>
      </p:sp>
      <p:sp>
        <p:nvSpPr>
          <p:cNvPr id="19" name="Text 17"/>
          <p:cNvSpPr/>
          <p:nvPr/>
        </p:nvSpPr>
        <p:spPr>
          <a:xfrm>
            <a:off x="1181100" y="6167438"/>
            <a:ext cx="2409825" cy="285750"/>
          </a:xfrm>
          <a:prstGeom prst="rect">
            <a:avLst/>
          </a:prstGeom>
          <a:noFill/>
          <a:ln/>
        </p:spPr>
        <p:txBody>
          <a:bodyPr wrap="square" lIns="25400" tIns="25400" rIns="25400" bIns="25400" rtlCol="0" anchor="t">
            <a:normAutofit/>
          </a:bodyPr>
          <a:lstStyle/>
          <a:p>
            <a:pPr marL="0" indent="0" algn="l">
              <a:buNone/>
            </a:pPr>
            <a:r>
              <a:rPr lang="en-US" sz="1650" kern="0" spc="132" dirty="0">
                <a:solidFill>
                  <a:srgbClr val="BC4226"/>
                </a:solidFill>
                <a:latin typeface="Arial" pitchFamily="34" charset="0"/>
                <a:ea typeface="Arial" pitchFamily="34" charset="-122"/>
                <a:cs typeface="Arial" pitchFamily="34" charset="-120"/>
              </a:rPr>
              <a:t>FLAWED CIPHER</a:t>
            </a:r>
            <a:endParaRPr lang="en-US" sz="1650" dirty="0"/>
          </a:p>
        </p:txBody>
      </p:sp>
      <p:sp>
        <p:nvSpPr>
          <p:cNvPr id="20" name="Text 18"/>
          <p:cNvSpPr/>
          <p:nvPr/>
        </p:nvSpPr>
        <p:spPr>
          <a:xfrm>
            <a:off x="1181100" y="6491288"/>
            <a:ext cx="2409825" cy="333375"/>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7A2E17"/>
                </a:solidFill>
                <a:latin typeface="Arial" pitchFamily="34" charset="0"/>
                <a:ea typeface="Arial" pitchFamily="34" charset="-122"/>
                <a:cs typeface="Arial" pitchFamily="34" charset="-120"/>
              </a:rPr>
              <a:t>a faint pattern remains</a:t>
            </a:r>
            <a:endParaRPr lang="en-US" sz="1725" dirty="0"/>
          </a:p>
        </p:txBody>
      </p:sp>
      <p:sp>
        <p:nvSpPr>
          <p:cNvPr id="21" name="Shape 19"/>
          <p:cNvSpPr/>
          <p:nvPr/>
        </p:nvSpPr>
        <p:spPr>
          <a:xfrm>
            <a:off x="3714750" y="6181725"/>
            <a:ext cx="7464772" cy="590550"/>
          </a:xfrm>
          <a:prstGeom prst="roundRect">
            <a:avLst>
              <a:gd name="adj" fmla="val 9677"/>
            </a:avLst>
          </a:prstGeom>
          <a:solidFill>
            <a:srgbClr val="F7EAE3"/>
          </a:solidFill>
          <a:ln w="9525">
            <a:solidFill>
              <a:srgbClr val="E2C3B6"/>
            </a:solidFill>
            <a:prstDash val="solid"/>
          </a:ln>
        </p:spPr>
        <p:txBody>
          <a:bodyPr/>
          <a:lstStyle/>
          <a:p>
            <a:endParaRPr lang="de-DE"/>
          </a:p>
        </p:txBody>
      </p:sp>
      <p:sp>
        <p:nvSpPr>
          <p:cNvPr id="22" name="Text 20"/>
          <p:cNvSpPr/>
          <p:nvPr/>
        </p:nvSpPr>
        <p:spPr>
          <a:xfrm>
            <a:off x="3895725" y="6191250"/>
            <a:ext cx="7326765" cy="609600"/>
          </a:xfrm>
          <a:prstGeom prst="rect">
            <a:avLst/>
          </a:prstGeom>
          <a:noFill/>
          <a:ln/>
        </p:spPr>
        <p:txBody>
          <a:bodyPr wrap="none" lIns="25400" tIns="25400" rIns="25400" bIns="25400" rtlCol="0" anchor="ctr">
            <a:normAutofit/>
          </a:bodyPr>
          <a:lstStyle/>
          <a:p>
            <a:pPr marL="0" indent="0" algn="l">
              <a:buNone/>
            </a:pPr>
            <a:r>
              <a:rPr lang="en-US" sz="1575" kern="0" spc="63" dirty="0">
                <a:solidFill>
                  <a:srgbClr val="BC4226"/>
                </a:solidFill>
                <a:latin typeface="Arial" pitchFamily="34" charset="0"/>
                <a:ea typeface="Arial" pitchFamily="34" charset="-122"/>
                <a:cs typeface="Arial" pitchFamily="34" charset="-120"/>
              </a:rPr>
              <a:t>a3·1f·a3·1f·a3·1f·a3·1f·a3·1f·a3·1f·a3·1f·a3·1f·a3·1f·a3·1f·a3·1f·a3·1f·a3·1f·a3·1f·a3·1f·a3·1f·a3·1f</a:t>
            </a:r>
            <a:endParaRPr lang="en-US" sz="1575" dirty="0"/>
          </a:p>
        </p:txBody>
      </p:sp>
      <p:sp>
        <p:nvSpPr>
          <p:cNvPr id="23" name="Text 21"/>
          <p:cNvSpPr/>
          <p:nvPr/>
        </p:nvSpPr>
        <p:spPr>
          <a:xfrm>
            <a:off x="11697146" y="6186488"/>
            <a:ext cx="323850" cy="333375"/>
          </a:xfrm>
          <a:prstGeom prst="rect">
            <a:avLst/>
          </a:prstGeom>
          <a:noFill/>
          <a:ln/>
        </p:spPr>
        <p:txBody>
          <a:bodyPr wrap="square" lIns="25400" tIns="25400" rIns="25400" bIns="25400" rtlCol="0" anchor="t">
            <a:normAutofit/>
          </a:bodyPr>
          <a:lstStyle/>
          <a:p>
            <a:pPr marL="0" indent="0" algn="l">
              <a:buNone/>
            </a:pPr>
            <a:r>
              <a:rPr lang="en-US" sz="1950" dirty="0">
                <a:solidFill>
                  <a:srgbClr val="BC4226"/>
                </a:solidFill>
                <a:latin typeface="Arial" pitchFamily="34" charset="0"/>
                <a:ea typeface="Arial" pitchFamily="34" charset="-122"/>
                <a:cs typeface="Arial" pitchFamily="34" charset="-120"/>
              </a:rPr>
              <a:t>→</a:t>
            </a:r>
            <a:endParaRPr lang="en-US" sz="1950" dirty="0"/>
          </a:p>
        </p:txBody>
      </p:sp>
      <p:sp>
        <p:nvSpPr>
          <p:cNvPr id="24" name="Text 22"/>
          <p:cNvSpPr/>
          <p:nvPr/>
        </p:nvSpPr>
        <p:spPr>
          <a:xfrm>
            <a:off x="11408122" y="6529388"/>
            <a:ext cx="902047" cy="276225"/>
          </a:xfrm>
          <a:prstGeom prst="rect">
            <a:avLst/>
          </a:prstGeom>
          <a:noFill/>
          <a:ln/>
        </p:spPr>
        <p:txBody>
          <a:bodyPr wrap="square" lIns="25400" tIns="25400" rIns="25400" bIns="25400" rtlCol="0" anchor="t">
            <a:normAutofit/>
          </a:bodyPr>
          <a:lstStyle/>
          <a:p>
            <a:pPr marL="0" indent="0" algn="l">
              <a:buNone/>
            </a:pPr>
            <a:r>
              <a:rPr lang="en-US" sz="1500" dirty="0">
                <a:solidFill>
                  <a:srgbClr val="6A625A"/>
                </a:solidFill>
                <a:latin typeface="Arial" pitchFamily="34" charset="0"/>
                <a:ea typeface="Arial" pitchFamily="34" charset="-122"/>
                <a:cs typeface="Arial" pitchFamily="34" charset="-120"/>
              </a:rPr>
              <a:t>compress</a:t>
            </a:r>
            <a:endParaRPr lang="en-US" sz="1500" dirty="0"/>
          </a:p>
        </p:txBody>
      </p:sp>
      <p:sp>
        <p:nvSpPr>
          <p:cNvPr id="25" name="Shape 23"/>
          <p:cNvSpPr/>
          <p:nvPr/>
        </p:nvSpPr>
        <p:spPr>
          <a:xfrm>
            <a:off x="12462570" y="6181725"/>
            <a:ext cx="1920180" cy="590550"/>
          </a:xfrm>
          <a:prstGeom prst="roundRect">
            <a:avLst>
              <a:gd name="adj" fmla="val 9677"/>
            </a:avLst>
          </a:prstGeom>
          <a:solidFill>
            <a:srgbClr val="EAC4B6"/>
          </a:solidFill>
          <a:ln w="9525">
            <a:solidFill>
              <a:srgbClr val="D49A85"/>
            </a:solidFill>
            <a:prstDash val="solid"/>
          </a:ln>
        </p:spPr>
        <p:txBody>
          <a:bodyPr/>
          <a:lstStyle/>
          <a:p>
            <a:endParaRPr lang="de-DE"/>
          </a:p>
        </p:txBody>
      </p:sp>
      <p:sp>
        <p:nvSpPr>
          <p:cNvPr id="26" name="Text 24"/>
          <p:cNvSpPr/>
          <p:nvPr/>
        </p:nvSpPr>
        <p:spPr>
          <a:xfrm>
            <a:off x="12605445" y="6191250"/>
            <a:ext cx="1710630" cy="609600"/>
          </a:xfrm>
          <a:prstGeom prst="rect">
            <a:avLst/>
          </a:prstGeom>
          <a:noFill/>
          <a:ln/>
        </p:spPr>
        <p:txBody>
          <a:bodyPr wrap="none" lIns="25400" tIns="25400" rIns="25400" bIns="25400" rtlCol="0" anchor="ctr">
            <a:normAutofit/>
          </a:bodyPr>
          <a:lstStyle/>
          <a:p>
            <a:pPr marL="0" indent="0" algn="l">
              <a:buNone/>
            </a:pPr>
            <a:r>
              <a:rPr lang="en-US" sz="1575" kern="0" spc="63" dirty="0">
                <a:solidFill>
                  <a:srgbClr val="7A2E17"/>
                </a:solidFill>
                <a:latin typeface="Arial" pitchFamily="34" charset="0"/>
                <a:ea typeface="Arial" pitchFamily="34" charset="-122"/>
                <a:cs typeface="Arial" pitchFamily="34" charset="-120"/>
              </a:rPr>
              <a:t>a3·1f×34</a:t>
            </a:r>
            <a:endParaRPr lang="en-US" sz="1575" dirty="0"/>
          </a:p>
        </p:txBody>
      </p:sp>
      <p:sp>
        <p:nvSpPr>
          <p:cNvPr id="27" name="Text 25"/>
          <p:cNvSpPr/>
          <p:nvPr/>
        </p:nvSpPr>
        <p:spPr>
          <a:xfrm>
            <a:off x="14487525" y="5953125"/>
            <a:ext cx="2619375" cy="285750"/>
          </a:xfrm>
          <a:prstGeom prst="rect">
            <a:avLst/>
          </a:prstGeom>
          <a:noFill/>
          <a:ln/>
        </p:spPr>
        <p:txBody>
          <a:bodyPr wrap="square" lIns="25400" tIns="25400" rIns="25400" bIns="25400" rtlCol="0" anchor="t">
            <a:normAutofit/>
          </a:bodyPr>
          <a:lstStyle/>
          <a:p>
            <a:pPr marL="0" indent="0" algn="r">
              <a:buNone/>
            </a:pPr>
            <a:r>
              <a:rPr lang="en-US" sz="1575" kern="0" spc="126" dirty="0">
                <a:solidFill>
                  <a:srgbClr val="BC4226"/>
                </a:solidFill>
                <a:latin typeface="Arial" pitchFamily="34" charset="0"/>
                <a:ea typeface="Arial" pitchFamily="34" charset="-122"/>
                <a:cs typeface="Arial" pitchFamily="34" charset="-120"/>
              </a:rPr>
              <a:t>CASI</a:t>
            </a:r>
            <a:endParaRPr lang="en-US" sz="1575" dirty="0"/>
          </a:p>
        </p:txBody>
      </p:sp>
      <p:sp>
        <p:nvSpPr>
          <p:cNvPr id="28" name="Text 26"/>
          <p:cNvSpPr/>
          <p:nvPr/>
        </p:nvSpPr>
        <p:spPr>
          <a:xfrm>
            <a:off x="14487525" y="6200775"/>
            <a:ext cx="2619375" cy="514350"/>
          </a:xfrm>
          <a:prstGeom prst="rect">
            <a:avLst/>
          </a:prstGeom>
          <a:noFill/>
          <a:ln/>
        </p:spPr>
        <p:txBody>
          <a:bodyPr wrap="square" lIns="25400" tIns="25400" rIns="25400" bIns="25400" rtlCol="0" anchor="t">
            <a:normAutofit/>
          </a:bodyPr>
          <a:lstStyle/>
          <a:p>
            <a:pPr marL="0" indent="0" algn="r">
              <a:lnSpc>
                <a:spcPct val="105000"/>
              </a:lnSpc>
              <a:buNone/>
            </a:pPr>
            <a:r>
              <a:rPr lang="en-US" sz="3600" b="1" dirty="0">
                <a:solidFill>
                  <a:srgbClr val="BC4226"/>
                </a:solidFill>
                <a:latin typeface="Arial" pitchFamily="34" charset="0"/>
                <a:ea typeface="Arial" pitchFamily="34" charset="-122"/>
                <a:cs typeface="Arial" pitchFamily="34" charset="-120"/>
              </a:rPr>
              <a:t>&gt; 2.0</a:t>
            </a:r>
            <a:endParaRPr lang="en-US" sz="3600" dirty="0"/>
          </a:p>
        </p:txBody>
      </p:sp>
      <p:sp>
        <p:nvSpPr>
          <p:cNvPr id="29" name="Text 27"/>
          <p:cNvSpPr/>
          <p:nvPr/>
        </p:nvSpPr>
        <p:spPr>
          <a:xfrm>
            <a:off x="14487525" y="6753225"/>
            <a:ext cx="2619375" cy="285750"/>
          </a:xfrm>
          <a:prstGeom prst="rect">
            <a:avLst/>
          </a:prstGeom>
          <a:noFill/>
          <a:ln/>
        </p:spPr>
        <p:txBody>
          <a:bodyPr wrap="square" lIns="25400" tIns="25400" rIns="25400" bIns="25400" rtlCol="0" anchor="t">
            <a:normAutofit/>
          </a:bodyPr>
          <a:lstStyle/>
          <a:p>
            <a:pPr marL="0" indent="0" algn="r">
              <a:buNone/>
            </a:pPr>
            <a:r>
              <a:rPr lang="en-US" sz="1650" dirty="0">
                <a:solidFill>
                  <a:srgbClr val="7A2E17"/>
                </a:solidFill>
                <a:latin typeface="Arial" pitchFamily="34" charset="0"/>
                <a:ea typeface="Arial" pitchFamily="34" charset="-122"/>
                <a:cs typeface="Arial" pitchFamily="34" charset="-120"/>
              </a:rPr>
              <a:t>collapses · exploitable</a:t>
            </a:r>
            <a:endParaRPr lang="en-US" sz="1650" dirty="0"/>
          </a:p>
        </p:txBody>
      </p:sp>
      <p:sp>
        <p:nvSpPr>
          <p:cNvPr id="30" name="Shape 28"/>
          <p:cNvSpPr/>
          <p:nvPr/>
        </p:nvSpPr>
        <p:spPr>
          <a:xfrm>
            <a:off x="1143000" y="8448675"/>
            <a:ext cx="16002000" cy="9525"/>
          </a:xfrm>
          <a:prstGeom prst="rect">
            <a:avLst/>
          </a:prstGeom>
          <a:solidFill>
            <a:srgbClr val="DCD6CA"/>
          </a:solidFill>
          <a:ln/>
        </p:spPr>
        <p:txBody>
          <a:bodyPr/>
          <a:lstStyle/>
          <a:p>
            <a:endParaRPr lang="de-DE"/>
          </a:p>
        </p:txBody>
      </p:sp>
      <p:sp>
        <p:nvSpPr>
          <p:cNvPr id="31" name="Text 29"/>
          <p:cNvSpPr/>
          <p:nvPr/>
        </p:nvSpPr>
        <p:spPr>
          <a:xfrm>
            <a:off x="1143000" y="8724900"/>
            <a:ext cx="8184312"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b="1" dirty="0">
                <a:solidFill>
                  <a:srgbClr val="1A1714"/>
                </a:solidFill>
                <a:latin typeface="Arial" pitchFamily="34" charset="0"/>
                <a:ea typeface="Arial" pitchFamily="34" charset="-122"/>
                <a:cs typeface="Arial" pitchFamily="34" charset="-120"/>
              </a:rPr>
              <a:t>CASI </a:t>
            </a:r>
            <a:r>
              <a:rPr lang="en-US" sz="1875" dirty="0">
                <a:solidFill>
                  <a:srgbClr val="6A625A"/>
                </a:solidFill>
                <a:latin typeface="Arial" pitchFamily="34" charset="0"/>
                <a:ea typeface="Arial" pitchFamily="34" charset="-122"/>
                <a:cs typeface="Arial" pitchFamily="34" charset="-120"/>
              </a:rPr>
              <a:t>= how compressible the output is, divided by what pure randomness would score. A fair yardstick, in one number.</a:t>
            </a:r>
            <a:endParaRPr lang="en-US" sz="1875" dirty="0"/>
          </a:p>
        </p:txBody>
      </p:sp>
      <p:sp>
        <p:nvSpPr>
          <p:cNvPr id="32" name="Text 30"/>
          <p:cNvSpPr/>
          <p:nvPr/>
        </p:nvSpPr>
        <p:spPr>
          <a:xfrm>
            <a:off x="14498092" y="8929688"/>
            <a:ext cx="2911599" cy="295275"/>
          </a:xfrm>
          <a:prstGeom prst="rect">
            <a:avLst/>
          </a:prstGeom>
          <a:noFill/>
          <a:ln/>
        </p:spPr>
        <p:txBody>
          <a:bodyPr wrap="square" lIns="25400" tIns="25400" rIns="25400" bIns="25400" rtlCol="0" anchor="t">
            <a:normAutofit/>
          </a:bodyPr>
          <a:lstStyle/>
          <a:p>
            <a:pPr marL="0" indent="0" algn="l">
              <a:buNone/>
            </a:pPr>
            <a:r>
              <a:rPr lang="en-US" sz="1725" dirty="0">
                <a:solidFill>
                  <a:srgbClr val="938A7E"/>
                </a:solidFill>
                <a:latin typeface="Arial" pitchFamily="34" charset="0"/>
                <a:ea typeface="Arial" pitchFamily="34" charset="-122"/>
                <a:cs typeface="Arial" pitchFamily="34" charset="-120"/>
              </a:rPr>
              <a:t>≈1 random · &gt;2 structured</a:t>
            </a:r>
            <a:endParaRPr lang="en-US" sz="17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518856"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05 — THE RESULT</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771650"/>
            <a:ext cx="13574092" cy="762000"/>
          </a:xfrm>
          <a:prstGeom prst="rect">
            <a:avLst/>
          </a:prstGeom>
          <a:noFill/>
          <a:ln/>
        </p:spPr>
        <p:txBody>
          <a:bodyPr wrap="square" lIns="25400" tIns="25400" rIns="25400" bIns="25400" rtlCol="0" anchor="t">
            <a:normAutofit/>
          </a:bodyPr>
          <a:lstStyle/>
          <a:p>
            <a:pPr marL="0" indent="0" algn="l">
              <a:lnSpc>
                <a:spcPct val="104000"/>
              </a:lnSpc>
              <a:buNone/>
            </a:pPr>
            <a:r>
              <a:rPr lang="en-US" sz="5550" kern="0" spc="-67" dirty="0">
                <a:solidFill>
                  <a:srgbClr val="1A1714"/>
                </a:solidFill>
                <a:latin typeface="Georgia" pitchFamily="34" charset="0"/>
                <a:ea typeface="Georgia" pitchFamily="34" charset="-122"/>
                <a:cs typeface="Georgia" pitchFamily="34" charset="-120"/>
              </a:rPr>
              <a:t>One ISO family is broken — the rest hold</a:t>
            </a:r>
            <a:endParaRPr lang="en-US" sz="5550" dirty="0"/>
          </a:p>
        </p:txBody>
      </p:sp>
      <p:sp>
        <p:nvSpPr>
          <p:cNvPr id="6" name="Text 4"/>
          <p:cNvSpPr/>
          <p:nvPr/>
        </p:nvSpPr>
        <p:spPr>
          <a:xfrm>
            <a:off x="1143000" y="2628900"/>
            <a:ext cx="13574092" cy="314325"/>
          </a:xfrm>
          <a:prstGeom prst="rect">
            <a:avLst/>
          </a:prstGeom>
          <a:noFill/>
          <a:ln/>
        </p:spPr>
        <p:txBody>
          <a:bodyPr wrap="square" lIns="25400" tIns="25400" rIns="25400" bIns="25400" rtlCol="0" anchor="t">
            <a:normAutofit/>
          </a:bodyPr>
          <a:lstStyle/>
          <a:p>
            <a:pPr marL="0" indent="0" algn="l">
              <a:buNone/>
            </a:pPr>
            <a:r>
              <a:rPr lang="en-US" sz="1800" dirty="0">
                <a:solidFill>
                  <a:srgbClr val="6A625A"/>
                </a:solidFill>
                <a:latin typeface="Arial" pitchFamily="34" charset="0"/>
                <a:ea typeface="Arial" pitchFamily="34" charset="-122"/>
                <a:cs typeface="Arial" pitchFamily="34" charset="-120"/>
              </a:rPr>
              <a:t>41 implementations · 9 families · </a:t>
            </a:r>
            <a:r>
              <a:rPr lang="en-US" sz="1800" b="1" dirty="0">
                <a:solidFill>
                  <a:srgbClr val="1A1714"/>
                </a:solidFill>
                <a:latin typeface="Arial" pitchFamily="34" charset="0"/>
                <a:ea typeface="Arial" pitchFamily="34" charset="-122"/>
                <a:cs typeface="Arial" pitchFamily="34" charset="-120"/>
              </a:rPr>
              <a:t>full rounds, as deployed </a:t>
            </a:r>
            <a:r>
              <a:rPr lang="en-US" sz="1800" dirty="0">
                <a:solidFill>
                  <a:srgbClr val="6A625A"/>
                </a:solidFill>
                <a:latin typeface="Arial" pitchFamily="34" charset="0"/>
                <a:ea typeface="Arial" pitchFamily="34" charset="-122"/>
                <a:cs typeface="Arial" pitchFamily="34" charset="-120"/>
              </a:rPr>
              <a:t>— every ISO/IEC 29167 and NIST SP 800-232 cipher</a:t>
            </a:r>
            <a:endParaRPr lang="en-US" sz="1800" dirty="0"/>
          </a:p>
        </p:txBody>
      </p:sp>
      <p:sp>
        <p:nvSpPr>
          <p:cNvPr id="7" name="Shape 5"/>
          <p:cNvSpPr/>
          <p:nvPr/>
        </p:nvSpPr>
        <p:spPr>
          <a:xfrm>
            <a:off x="1143000" y="3609975"/>
            <a:ext cx="16002000" cy="19050"/>
          </a:xfrm>
          <a:prstGeom prst="rect">
            <a:avLst/>
          </a:prstGeom>
          <a:solidFill>
            <a:srgbClr val="1A1714"/>
          </a:solidFill>
          <a:ln/>
        </p:spPr>
        <p:txBody>
          <a:bodyPr/>
          <a:lstStyle/>
          <a:p>
            <a:endParaRPr lang="de-DE"/>
          </a:p>
        </p:txBody>
      </p:sp>
      <p:sp>
        <p:nvSpPr>
          <p:cNvPr id="8" name="Text 6"/>
          <p:cNvSpPr/>
          <p:nvPr/>
        </p:nvSpPr>
        <p:spPr>
          <a:xfrm>
            <a:off x="1276350" y="3248025"/>
            <a:ext cx="3236074" cy="266700"/>
          </a:xfrm>
          <a:prstGeom prst="rect">
            <a:avLst/>
          </a:prstGeom>
          <a:noFill/>
          <a:ln/>
        </p:spPr>
        <p:txBody>
          <a:bodyPr wrap="square" lIns="25400" tIns="25400" rIns="25400" bIns="25400" rtlCol="0" anchor="t">
            <a:normAutofit/>
          </a:bodyPr>
          <a:lstStyle/>
          <a:p>
            <a:pPr marL="0" indent="0" algn="l">
              <a:buNone/>
            </a:pPr>
            <a:r>
              <a:rPr lang="en-US" sz="1425" kern="0" spc="142" dirty="0">
                <a:solidFill>
                  <a:srgbClr val="938A7E"/>
                </a:solidFill>
                <a:latin typeface="Arial" pitchFamily="34" charset="0"/>
                <a:ea typeface="Arial" pitchFamily="34" charset="-122"/>
                <a:cs typeface="Arial" pitchFamily="34" charset="-120"/>
              </a:rPr>
              <a:t>FAMILY</a:t>
            </a:r>
            <a:endParaRPr lang="en-US" sz="1425" dirty="0"/>
          </a:p>
        </p:txBody>
      </p:sp>
      <p:sp>
        <p:nvSpPr>
          <p:cNvPr id="9" name="Text 7"/>
          <p:cNvSpPr/>
          <p:nvPr/>
        </p:nvSpPr>
        <p:spPr>
          <a:xfrm>
            <a:off x="4503986" y="3248025"/>
            <a:ext cx="2847915" cy="266700"/>
          </a:xfrm>
          <a:prstGeom prst="rect">
            <a:avLst/>
          </a:prstGeom>
          <a:noFill/>
          <a:ln/>
        </p:spPr>
        <p:txBody>
          <a:bodyPr wrap="square" lIns="25400" tIns="25400" rIns="25400" bIns="25400" rtlCol="0" anchor="t">
            <a:normAutofit/>
          </a:bodyPr>
          <a:lstStyle/>
          <a:p>
            <a:pPr marL="0" indent="0" algn="l">
              <a:buNone/>
            </a:pPr>
            <a:r>
              <a:rPr lang="en-US" sz="1425" kern="0" spc="142" dirty="0">
                <a:solidFill>
                  <a:srgbClr val="938A7E"/>
                </a:solidFill>
                <a:latin typeface="Arial" pitchFamily="34" charset="0"/>
                <a:ea typeface="Arial" pitchFamily="34" charset="-122"/>
                <a:cs typeface="Arial" pitchFamily="34" charset="-120"/>
              </a:rPr>
              <a:t>ARCHITECTURE</a:t>
            </a:r>
            <a:endParaRPr lang="en-US" sz="1425" dirty="0"/>
          </a:p>
        </p:txBody>
      </p:sp>
      <p:sp>
        <p:nvSpPr>
          <p:cNvPr id="10" name="Text 8"/>
          <p:cNvSpPr/>
          <p:nvPr/>
        </p:nvSpPr>
        <p:spPr>
          <a:xfrm>
            <a:off x="7378750" y="3248025"/>
            <a:ext cx="3624560" cy="266700"/>
          </a:xfrm>
          <a:prstGeom prst="rect">
            <a:avLst/>
          </a:prstGeom>
          <a:noFill/>
          <a:ln/>
        </p:spPr>
        <p:txBody>
          <a:bodyPr wrap="square" lIns="25400" tIns="25400" rIns="25400" bIns="25400" rtlCol="0" anchor="t">
            <a:normAutofit/>
          </a:bodyPr>
          <a:lstStyle/>
          <a:p>
            <a:pPr marL="0" indent="0" algn="l">
              <a:buNone/>
            </a:pPr>
            <a:r>
              <a:rPr lang="en-US" sz="1425" kern="0" spc="142" dirty="0">
                <a:solidFill>
                  <a:srgbClr val="938A7E"/>
                </a:solidFill>
                <a:latin typeface="Arial" pitchFamily="34" charset="0"/>
                <a:ea typeface="Arial" pitchFamily="34" charset="-122"/>
                <a:cs typeface="Arial" pitchFamily="34" charset="-120"/>
              </a:rPr>
              <a:t>STANDARD</a:t>
            </a:r>
            <a:endParaRPr lang="en-US" sz="1425" dirty="0"/>
          </a:p>
        </p:txBody>
      </p:sp>
      <p:sp>
        <p:nvSpPr>
          <p:cNvPr id="11" name="Text 9"/>
          <p:cNvSpPr/>
          <p:nvPr/>
        </p:nvSpPr>
        <p:spPr>
          <a:xfrm>
            <a:off x="10959554" y="3248025"/>
            <a:ext cx="2459429" cy="266700"/>
          </a:xfrm>
          <a:prstGeom prst="rect">
            <a:avLst/>
          </a:prstGeom>
          <a:noFill/>
          <a:ln/>
        </p:spPr>
        <p:txBody>
          <a:bodyPr wrap="square" lIns="25400" tIns="25400" rIns="25400" bIns="25400" rtlCol="0" anchor="t">
            <a:normAutofit/>
          </a:bodyPr>
          <a:lstStyle/>
          <a:p>
            <a:pPr marL="0" indent="0" algn="l">
              <a:buNone/>
            </a:pPr>
            <a:r>
              <a:rPr lang="en-US" sz="1425" kern="0" spc="142" dirty="0">
                <a:solidFill>
                  <a:srgbClr val="938A7E"/>
                </a:solidFill>
                <a:latin typeface="Arial" pitchFamily="34" charset="0"/>
                <a:ea typeface="Arial" pitchFamily="34" charset="-122"/>
                <a:cs typeface="Arial" pitchFamily="34" charset="-120"/>
              </a:rPr>
              <a:t>VERDICT</a:t>
            </a:r>
            <a:endParaRPr lang="en-US" sz="1425" dirty="0"/>
          </a:p>
        </p:txBody>
      </p:sp>
      <p:sp>
        <p:nvSpPr>
          <p:cNvPr id="12" name="Text 10"/>
          <p:cNvSpPr/>
          <p:nvPr/>
        </p:nvSpPr>
        <p:spPr>
          <a:xfrm>
            <a:off x="13481149" y="3248025"/>
            <a:ext cx="3883551" cy="266700"/>
          </a:xfrm>
          <a:prstGeom prst="rect">
            <a:avLst/>
          </a:prstGeom>
          <a:noFill/>
          <a:ln/>
        </p:spPr>
        <p:txBody>
          <a:bodyPr wrap="square" lIns="25400" tIns="25400" rIns="25400" bIns="25400" rtlCol="0" anchor="t">
            <a:normAutofit/>
          </a:bodyPr>
          <a:lstStyle/>
          <a:p>
            <a:pPr marL="0" indent="0" algn="l">
              <a:buNone/>
            </a:pPr>
            <a:r>
              <a:rPr lang="en-US" sz="1425" kern="0" spc="142" dirty="0">
                <a:solidFill>
                  <a:srgbClr val="938A7E"/>
                </a:solidFill>
                <a:latin typeface="Arial" pitchFamily="34" charset="0"/>
                <a:ea typeface="Arial" pitchFamily="34" charset="-122"/>
                <a:cs typeface="Arial" pitchFamily="34" charset="-120"/>
              </a:rPr>
              <a:t>SIGNAL</a:t>
            </a:r>
            <a:endParaRPr lang="en-US" sz="1425" dirty="0"/>
          </a:p>
        </p:txBody>
      </p:sp>
      <p:sp>
        <p:nvSpPr>
          <p:cNvPr id="13" name="Shape 11"/>
          <p:cNvSpPr/>
          <p:nvPr/>
        </p:nvSpPr>
        <p:spPr>
          <a:xfrm>
            <a:off x="1143000" y="3629025"/>
            <a:ext cx="16002000" cy="641300"/>
          </a:xfrm>
          <a:prstGeom prst="rect">
            <a:avLst/>
          </a:prstGeom>
          <a:solidFill>
            <a:srgbClr val="F2E0D8"/>
          </a:solidFill>
          <a:ln/>
        </p:spPr>
        <p:txBody>
          <a:bodyPr/>
          <a:lstStyle/>
          <a:p>
            <a:endParaRPr lang="de-DE"/>
          </a:p>
        </p:txBody>
      </p:sp>
      <p:sp>
        <p:nvSpPr>
          <p:cNvPr id="14" name="Shape 12"/>
          <p:cNvSpPr/>
          <p:nvPr/>
        </p:nvSpPr>
        <p:spPr>
          <a:xfrm>
            <a:off x="1143000" y="4260800"/>
            <a:ext cx="16002000" cy="9525"/>
          </a:xfrm>
          <a:prstGeom prst="rect">
            <a:avLst/>
          </a:prstGeom>
          <a:solidFill>
            <a:srgbClr val="DCD6CA"/>
          </a:solidFill>
          <a:ln/>
        </p:spPr>
        <p:txBody>
          <a:bodyPr/>
          <a:lstStyle/>
          <a:p>
            <a:endParaRPr lang="de-DE"/>
          </a:p>
        </p:txBody>
      </p:sp>
      <p:sp>
        <p:nvSpPr>
          <p:cNvPr id="15" name="Text 13"/>
          <p:cNvSpPr/>
          <p:nvPr/>
        </p:nvSpPr>
        <p:spPr>
          <a:xfrm>
            <a:off x="1276350" y="3763863"/>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BC4226"/>
                </a:solidFill>
                <a:latin typeface="Arial" pitchFamily="34" charset="0"/>
                <a:ea typeface="Arial" pitchFamily="34" charset="-122"/>
                <a:cs typeface="Arial" pitchFamily="34" charset="-120"/>
              </a:rPr>
              <a:t>Speck</a:t>
            </a:r>
            <a:endParaRPr lang="en-US" sz="2325" dirty="0"/>
          </a:p>
        </p:txBody>
      </p:sp>
      <p:sp>
        <p:nvSpPr>
          <p:cNvPr id="16" name="Text 14"/>
          <p:cNvSpPr/>
          <p:nvPr/>
        </p:nvSpPr>
        <p:spPr>
          <a:xfrm>
            <a:off x="4503986" y="3816251"/>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ARX-Feistel</a:t>
            </a:r>
            <a:endParaRPr lang="en-US" sz="1725" dirty="0"/>
          </a:p>
        </p:txBody>
      </p:sp>
      <p:sp>
        <p:nvSpPr>
          <p:cNvPr id="17" name="Text 15"/>
          <p:cNvSpPr/>
          <p:nvPr/>
        </p:nvSpPr>
        <p:spPr>
          <a:xfrm>
            <a:off x="7378750" y="3816251"/>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1A1714"/>
                </a:solidFill>
                <a:latin typeface="Arial" pitchFamily="34" charset="0"/>
                <a:ea typeface="Arial" pitchFamily="34" charset="-122"/>
                <a:cs typeface="Arial" pitchFamily="34" charset="-120"/>
              </a:rPr>
              <a:t>ISO/IEC 29167-22</a:t>
            </a:r>
            <a:endParaRPr lang="en-US" sz="1725" dirty="0"/>
          </a:p>
        </p:txBody>
      </p:sp>
      <p:sp>
        <p:nvSpPr>
          <p:cNvPr id="18" name="Text 16"/>
          <p:cNvSpPr/>
          <p:nvPr/>
        </p:nvSpPr>
        <p:spPr>
          <a:xfrm>
            <a:off x="10959554" y="3806726"/>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BC4226"/>
                </a:solidFill>
                <a:latin typeface="Arial" pitchFamily="34" charset="0"/>
                <a:ea typeface="Arial" pitchFamily="34" charset="-122"/>
                <a:cs typeface="Arial" pitchFamily="34" charset="-120"/>
              </a:rPr>
              <a:t>BROKEN</a:t>
            </a:r>
            <a:endParaRPr lang="en-US" sz="1800" dirty="0"/>
          </a:p>
        </p:txBody>
      </p:sp>
      <p:sp>
        <p:nvSpPr>
          <p:cNvPr id="19" name="Text 17"/>
          <p:cNvSpPr/>
          <p:nvPr/>
        </p:nvSpPr>
        <p:spPr>
          <a:xfrm>
            <a:off x="13481149" y="3821013"/>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BC4226"/>
                </a:solidFill>
                <a:latin typeface="Arial" pitchFamily="34" charset="0"/>
                <a:ea typeface="Arial" pitchFamily="34" charset="-122"/>
                <a:cs typeface="Arial" pitchFamily="34" charset="-120"/>
              </a:rPr>
              <a:t>F8 t = +17.9 … +40.4 · all 10 variants</a:t>
            </a:r>
            <a:endParaRPr lang="en-US" sz="1575" dirty="0"/>
          </a:p>
        </p:txBody>
      </p:sp>
      <p:sp>
        <p:nvSpPr>
          <p:cNvPr id="20" name="Shape 18"/>
          <p:cNvSpPr/>
          <p:nvPr/>
        </p:nvSpPr>
        <p:spPr>
          <a:xfrm>
            <a:off x="1143000" y="4902101"/>
            <a:ext cx="16002000" cy="9525"/>
          </a:xfrm>
          <a:prstGeom prst="rect">
            <a:avLst/>
          </a:prstGeom>
          <a:solidFill>
            <a:srgbClr val="DCD6CA"/>
          </a:solidFill>
          <a:ln/>
        </p:spPr>
        <p:txBody>
          <a:bodyPr/>
          <a:lstStyle/>
          <a:p>
            <a:endParaRPr lang="de-DE"/>
          </a:p>
        </p:txBody>
      </p:sp>
      <p:sp>
        <p:nvSpPr>
          <p:cNvPr id="21" name="Text 19"/>
          <p:cNvSpPr/>
          <p:nvPr/>
        </p:nvSpPr>
        <p:spPr>
          <a:xfrm>
            <a:off x="1276350" y="4405164"/>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SIMON</a:t>
            </a:r>
            <a:endParaRPr lang="en-US" sz="2325" dirty="0"/>
          </a:p>
        </p:txBody>
      </p:sp>
      <p:sp>
        <p:nvSpPr>
          <p:cNvPr id="22" name="Text 20"/>
          <p:cNvSpPr/>
          <p:nvPr/>
        </p:nvSpPr>
        <p:spPr>
          <a:xfrm>
            <a:off x="4503986" y="4457551"/>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Feistel</a:t>
            </a:r>
            <a:endParaRPr lang="en-US" sz="1725" dirty="0"/>
          </a:p>
        </p:txBody>
      </p:sp>
      <p:sp>
        <p:nvSpPr>
          <p:cNvPr id="23" name="Text 21"/>
          <p:cNvSpPr/>
          <p:nvPr/>
        </p:nvSpPr>
        <p:spPr>
          <a:xfrm>
            <a:off x="7378750" y="4457551"/>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1A1714"/>
                </a:solidFill>
                <a:latin typeface="Arial" pitchFamily="34" charset="0"/>
                <a:ea typeface="Arial" pitchFamily="34" charset="-122"/>
                <a:cs typeface="Arial" pitchFamily="34" charset="-120"/>
              </a:rPr>
              <a:t>ISO/IEC 29167-21</a:t>
            </a:r>
            <a:endParaRPr lang="en-US" sz="1725" dirty="0"/>
          </a:p>
        </p:txBody>
      </p:sp>
      <p:sp>
        <p:nvSpPr>
          <p:cNvPr id="24" name="Text 22"/>
          <p:cNvSpPr/>
          <p:nvPr/>
        </p:nvSpPr>
        <p:spPr>
          <a:xfrm>
            <a:off x="10959554" y="4448026"/>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2C6CA6"/>
                </a:solidFill>
                <a:latin typeface="Arial" pitchFamily="34" charset="0"/>
                <a:ea typeface="Arial" pitchFamily="34" charset="-122"/>
                <a:cs typeface="Arial" pitchFamily="34" charset="-120"/>
              </a:rPr>
              <a:t>IMMUNE</a:t>
            </a:r>
            <a:endParaRPr lang="en-US" sz="1800" dirty="0"/>
          </a:p>
        </p:txBody>
      </p:sp>
      <p:sp>
        <p:nvSpPr>
          <p:cNvPr id="25" name="Text 23"/>
          <p:cNvSpPr/>
          <p:nvPr/>
        </p:nvSpPr>
        <p:spPr>
          <a:xfrm>
            <a:off x="13481149" y="4462314"/>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no addition · t &lt; 2.3</a:t>
            </a:r>
            <a:endParaRPr lang="en-US" sz="1575" dirty="0"/>
          </a:p>
        </p:txBody>
      </p:sp>
      <p:sp>
        <p:nvSpPr>
          <p:cNvPr id="26" name="Shape 24"/>
          <p:cNvSpPr/>
          <p:nvPr/>
        </p:nvSpPr>
        <p:spPr>
          <a:xfrm>
            <a:off x="1143000" y="5543401"/>
            <a:ext cx="16002000" cy="9525"/>
          </a:xfrm>
          <a:prstGeom prst="rect">
            <a:avLst/>
          </a:prstGeom>
          <a:solidFill>
            <a:srgbClr val="DCD6CA"/>
          </a:solidFill>
          <a:ln/>
        </p:spPr>
        <p:txBody>
          <a:bodyPr/>
          <a:lstStyle/>
          <a:p>
            <a:endParaRPr lang="de-DE"/>
          </a:p>
        </p:txBody>
      </p:sp>
      <p:sp>
        <p:nvSpPr>
          <p:cNvPr id="27" name="Text 25"/>
          <p:cNvSpPr/>
          <p:nvPr/>
        </p:nvSpPr>
        <p:spPr>
          <a:xfrm>
            <a:off x="1276350" y="5046464"/>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LEA</a:t>
            </a:r>
            <a:endParaRPr lang="en-US" sz="2325" dirty="0"/>
          </a:p>
        </p:txBody>
      </p:sp>
      <p:sp>
        <p:nvSpPr>
          <p:cNvPr id="28" name="Text 26"/>
          <p:cNvSpPr/>
          <p:nvPr/>
        </p:nvSpPr>
        <p:spPr>
          <a:xfrm>
            <a:off x="4503986" y="5098852"/>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ARX-block</a:t>
            </a:r>
            <a:endParaRPr lang="en-US" sz="1725" dirty="0"/>
          </a:p>
        </p:txBody>
      </p:sp>
      <p:sp>
        <p:nvSpPr>
          <p:cNvPr id="29" name="Text 27"/>
          <p:cNvSpPr/>
          <p:nvPr/>
        </p:nvSpPr>
        <p:spPr>
          <a:xfrm>
            <a:off x="7378750" y="5098852"/>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1A1714"/>
                </a:solidFill>
                <a:latin typeface="Arial" pitchFamily="34" charset="0"/>
                <a:ea typeface="Arial" pitchFamily="34" charset="-122"/>
                <a:cs typeface="Arial" pitchFamily="34" charset="-120"/>
              </a:rPr>
              <a:t>Korean TTA</a:t>
            </a:r>
            <a:endParaRPr lang="en-US" sz="1725" dirty="0"/>
          </a:p>
        </p:txBody>
      </p:sp>
      <p:sp>
        <p:nvSpPr>
          <p:cNvPr id="30" name="Text 28"/>
          <p:cNvSpPr/>
          <p:nvPr/>
        </p:nvSpPr>
        <p:spPr>
          <a:xfrm>
            <a:off x="10959554" y="5089327"/>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2C6CA6"/>
                </a:solidFill>
                <a:latin typeface="Arial" pitchFamily="34" charset="0"/>
                <a:ea typeface="Arial" pitchFamily="34" charset="-122"/>
                <a:cs typeface="Arial" pitchFamily="34" charset="-120"/>
              </a:rPr>
              <a:t>IMMUNE</a:t>
            </a:r>
            <a:endParaRPr lang="en-US" sz="1800" dirty="0"/>
          </a:p>
        </p:txBody>
      </p:sp>
      <p:sp>
        <p:nvSpPr>
          <p:cNvPr id="31" name="Text 29"/>
          <p:cNvSpPr/>
          <p:nvPr/>
        </p:nvSpPr>
        <p:spPr>
          <a:xfrm>
            <a:off x="13481149" y="5103614"/>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self-rotation first · no carry</a:t>
            </a:r>
            <a:endParaRPr lang="en-US" sz="1575" dirty="0"/>
          </a:p>
        </p:txBody>
      </p:sp>
      <p:sp>
        <p:nvSpPr>
          <p:cNvPr id="32" name="Shape 30"/>
          <p:cNvSpPr/>
          <p:nvPr/>
        </p:nvSpPr>
        <p:spPr>
          <a:xfrm>
            <a:off x="1143000" y="6184702"/>
            <a:ext cx="16002000" cy="9525"/>
          </a:xfrm>
          <a:prstGeom prst="rect">
            <a:avLst/>
          </a:prstGeom>
          <a:solidFill>
            <a:srgbClr val="DCD6CA"/>
          </a:solidFill>
          <a:ln/>
        </p:spPr>
        <p:txBody>
          <a:bodyPr/>
          <a:lstStyle/>
          <a:p>
            <a:endParaRPr lang="de-DE"/>
          </a:p>
        </p:txBody>
      </p:sp>
      <p:sp>
        <p:nvSpPr>
          <p:cNvPr id="33" name="Text 31"/>
          <p:cNvSpPr/>
          <p:nvPr/>
        </p:nvSpPr>
        <p:spPr>
          <a:xfrm>
            <a:off x="1276350" y="5687764"/>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ASCON</a:t>
            </a:r>
            <a:endParaRPr lang="en-US" sz="2325" dirty="0"/>
          </a:p>
        </p:txBody>
      </p:sp>
      <p:sp>
        <p:nvSpPr>
          <p:cNvPr id="34" name="Text 32"/>
          <p:cNvSpPr/>
          <p:nvPr/>
        </p:nvSpPr>
        <p:spPr>
          <a:xfrm>
            <a:off x="4503986" y="5740152"/>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Sponge</a:t>
            </a:r>
            <a:endParaRPr lang="en-US" sz="1725" dirty="0"/>
          </a:p>
        </p:txBody>
      </p:sp>
      <p:sp>
        <p:nvSpPr>
          <p:cNvPr id="35" name="Text 33"/>
          <p:cNvSpPr/>
          <p:nvPr/>
        </p:nvSpPr>
        <p:spPr>
          <a:xfrm>
            <a:off x="7378750" y="5740152"/>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1A1714"/>
                </a:solidFill>
                <a:latin typeface="Arial" pitchFamily="34" charset="0"/>
                <a:ea typeface="Arial" pitchFamily="34" charset="-122"/>
                <a:cs typeface="Arial" pitchFamily="34" charset="-120"/>
              </a:rPr>
              <a:t>NIST SP 800-232</a:t>
            </a:r>
            <a:endParaRPr lang="en-US" sz="1725" dirty="0"/>
          </a:p>
        </p:txBody>
      </p:sp>
      <p:sp>
        <p:nvSpPr>
          <p:cNvPr id="36" name="Text 34"/>
          <p:cNvSpPr/>
          <p:nvPr/>
        </p:nvSpPr>
        <p:spPr>
          <a:xfrm>
            <a:off x="10959554" y="5730627"/>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1C6647"/>
                </a:solidFill>
                <a:latin typeface="Arial" pitchFamily="34" charset="0"/>
                <a:ea typeface="Arial" pitchFamily="34" charset="-122"/>
                <a:cs typeface="Arial" pitchFamily="34" charset="-120"/>
              </a:rPr>
              <a:t>CLEAN</a:t>
            </a:r>
            <a:endParaRPr lang="en-US" sz="1800" dirty="0"/>
          </a:p>
        </p:txBody>
      </p:sp>
      <p:sp>
        <p:nvSpPr>
          <p:cNvPr id="37" name="Text 35"/>
          <p:cNvSpPr/>
          <p:nvPr/>
        </p:nvSpPr>
        <p:spPr>
          <a:xfrm>
            <a:off x="13481149" y="5744914"/>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margin 100%</a:t>
            </a:r>
            <a:endParaRPr lang="en-US" sz="1575" dirty="0"/>
          </a:p>
        </p:txBody>
      </p:sp>
      <p:sp>
        <p:nvSpPr>
          <p:cNvPr id="38" name="Shape 36"/>
          <p:cNvSpPr/>
          <p:nvPr/>
        </p:nvSpPr>
        <p:spPr>
          <a:xfrm>
            <a:off x="1143000" y="6826002"/>
            <a:ext cx="16002000" cy="9525"/>
          </a:xfrm>
          <a:prstGeom prst="rect">
            <a:avLst/>
          </a:prstGeom>
          <a:solidFill>
            <a:srgbClr val="DCD6CA"/>
          </a:solidFill>
          <a:ln/>
        </p:spPr>
        <p:txBody>
          <a:bodyPr/>
          <a:lstStyle/>
          <a:p>
            <a:endParaRPr lang="de-DE"/>
          </a:p>
        </p:txBody>
      </p:sp>
      <p:sp>
        <p:nvSpPr>
          <p:cNvPr id="39" name="Text 37"/>
          <p:cNvSpPr/>
          <p:nvPr/>
        </p:nvSpPr>
        <p:spPr>
          <a:xfrm>
            <a:off x="1276350" y="6329065"/>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Grain-128a</a:t>
            </a:r>
            <a:endParaRPr lang="en-US" sz="2325" dirty="0"/>
          </a:p>
        </p:txBody>
      </p:sp>
      <p:sp>
        <p:nvSpPr>
          <p:cNvPr id="40" name="Text 38"/>
          <p:cNvSpPr/>
          <p:nvPr/>
        </p:nvSpPr>
        <p:spPr>
          <a:xfrm>
            <a:off x="4503986" y="6381452"/>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LFSR-NFSR</a:t>
            </a:r>
            <a:endParaRPr lang="en-US" sz="1725" dirty="0"/>
          </a:p>
        </p:txBody>
      </p:sp>
      <p:sp>
        <p:nvSpPr>
          <p:cNvPr id="41" name="Text 39"/>
          <p:cNvSpPr/>
          <p:nvPr/>
        </p:nvSpPr>
        <p:spPr>
          <a:xfrm>
            <a:off x="7378750" y="6381452"/>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1A1714"/>
                </a:solidFill>
                <a:latin typeface="Arial" pitchFamily="34" charset="0"/>
                <a:ea typeface="Arial" pitchFamily="34" charset="-122"/>
                <a:cs typeface="Arial" pitchFamily="34" charset="-120"/>
              </a:rPr>
              <a:t>ISO/IEC 29167-13</a:t>
            </a:r>
            <a:endParaRPr lang="en-US" sz="1725" dirty="0"/>
          </a:p>
        </p:txBody>
      </p:sp>
      <p:sp>
        <p:nvSpPr>
          <p:cNvPr id="42" name="Text 40"/>
          <p:cNvSpPr/>
          <p:nvPr/>
        </p:nvSpPr>
        <p:spPr>
          <a:xfrm>
            <a:off x="10959554" y="6371927"/>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1C6647"/>
                </a:solidFill>
                <a:latin typeface="Arial" pitchFamily="34" charset="0"/>
                <a:ea typeface="Arial" pitchFamily="34" charset="-122"/>
                <a:cs typeface="Arial" pitchFamily="34" charset="-120"/>
              </a:rPr>
              <a:t>CLEAN</a:t>
            </a:r>
            <a:endParaRPr lang="en-US" sz="1800" dirty="0"/>
          </a:p>
        </p:txBody>
      </p:sp>
      <p:sp>
        <p:nvSpPr>
          <p:cNvPr id="43" name="Text 41"/>
          <p:cNvSpPr/>
          <p:nvPr/>
        </p:nvSpPr>
        <p:spPr>
          <a:xfrm>
            <a:off x="13481149" y="6386215"/>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margin 100%</a:t>
            </a:r>
            <a:endParaRPr lang="en-US" sz="1575" dirty="0"/>
          </a:p>
        </p:txBody>
      </p:sp>
      <p:sp>
        <p:nvSpPr>
          <p:cNvPr id="44" name="Shape 42"/>
          <p:cNvSpPr/>
          <p:nvPr/>
        </p:nvSpPr>
        <p:spPr>
          <a:xfrm>
            <a:off x="1143000" y="7467302"/>
            <a:ext cx="16002000" cy="9525"/>
          </a:xfrm>
          <a:prstGeom prst="rect">
            <a:avLst/>
          </a:prstGeom>
          <a:solidFill>
            <a:srgbClr val="DCD6CA"/>
          </a:solidFill>
          <a:ln/>
        </p:spPr>
        <p:txBody>
          <a:bodyPr/>
          <a:lstStyle/>
          <a:p>
            <a:endParaRPr lang="de-DE"/>
          </a:p>
        </p:txBody>
      </p:sp>
      <p:sp>
        <p:nvSpPr>
          <p:cNvPr id="45" name="Text 43"/>
          <p:cNvSpPr/>
          <p:nvPr/>
        </p:nvSpPr>
        <p:spPr>
          <a:xfrm>
            <a:off x="1276350" y="6970365"/>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PRESENT</a:t>
            </a:r>
            <a:endParaRPr lang="en-US" sz="2325" dirty="0"/>
          </a:p>
        </p:txBody>
      </p:sp>
      <p:sp>
        <p:nvSpPr>
          <p:cNvPr id="46" name="Text 44"/>
          <p:cNvSpPr/>
          <p:nvPr/>
        </p:nvSpPr>
        <p:spPr>
          <a:xfrm>
            <a:off x="4503986" y="7022753"/>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SPN</a:t>
            </a:r>
            <a:endParaRPr lang="en-US" sz="1725" dirty="0"/>
          </a:p>
        </p:txBody>
      </p:sp>
      <p:sp>
        <p:nvSpPr>
          <p:cNvPr id="47" name="Text 45"/>
          <p:cNvSpPr/>
          <p:nvPr/>
        </p:nvSpPr>
        <p:spPr>
          <a:xfrm>
            <a:off x="7378750" y="7022753"/>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1A1714"/>
                </a:solidFill>
                <a:latin typeface="Arial" pitchFamily="34" charset="0"/>
                <a:ea typeface="Arial" pitchFamily="34" charset="-122"/>
                <a:cs typeface="Arial" pitchFamily="34" charset="-120"/>
              </a:rPr>
              <a:t>ISO/IEC 29167-11</a:t>
            </a:r>
            <a:endParaRPr lang="en-US" sz="1725" dirty="0"/>
          </a:p>
        </p:txBody>
      </p:sp>
      <p:sp>
        <p:nvSpPr>
          <p:cNvPr id="48" name="Text 46"/>
          <p:cNvSpPr/>
          <p:nvPr/>
        </p:nvSpPr>
        <p:spPr>
          <a:xfrm>
            <a:off x="10959554" y="7013228"/>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2E8056"/>
                </a:solidFill>
                <a:latin typeface="Arial" pitchFamily="34" charset="0"/>
                <a:ea typeface="Arial" pitchFamily="34" charset="-122"/>
                <a:cs typeface="Arial" pitchFamily="34" charset="-120"/>
              </a:rPr>
              <a:t>SECURE</a:t>
            </a:r>
            <a:endParaRPr lang="en-US" sz="1800" dirty="0"/>
          </a:p>
        </p:txBody>
      </p:sp>
      <p:sp>
        <p:nvSpPr>
          <p:cNvPr id="49" name="Text 47"/>
          <p:cNvSpPr/>
          <p:nvPr/>
        </p:nvSpPr>
        <p:spPr>
          <a:xfrm>
            <a:off x="13481149" y="7027515"/>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margin 77%</a:t>
            </a:r>
            <a:endParaRPr lang="en-US" sz="1575" dirty="0"/>
          </a:p>
        </p:txBody>
      </p:sp>
      <p:sp>
        <p:nvSpPr>
          <p:cNvPr id="50" name="Shape 48"/>
          <p:cNvSpPr/>
          <p:nvPr/>
        </p:nvSpPr>
        <p:spPr>
          <a:xfrm>
            <a:off x="1143000" y="8108603"/>
            <a:ext cx="16002000" cy="9525"/>
          </a:xfrm>
          <a:prstGeom prst="rect">
            <a:avLst/>
          </a:prstGeom>
          <a:solidFill>
            <a:srgbClr val="DCD6CA"/>
          </a:solidFill>
          <a:ln/>
        </p:spPr>
        <p:txBody>
          <a:bodyPr/>
          <a:lstStyle/>
          <a:p>
            <a:endParaRPr lang="de-DE"/>
          </a:p>
        </p:txBody>
      </p:sp>
      <p:sp>
        <p:nvSpPr>
          <p:cNvPr id="51" name="Text 49"/>
          <p:cNvSpPr/>
          <p:nvPr/>
        </p:nvSpPr>
        <p:spPr>
          <a:xfrm>
            <a:off x="1276350" y="7611666"/>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GIFT</a:t>
            </a:r>
            <a:endParaRPr lang="en-US" sz="2325" dirty="0"/>
          </a:p>
        </p:txBody>
      </p:sp>
      <p:sp>
        <p:nvSpPr>
          <p:cNvPr id="52" name="Text 50"/>
          <p:cNvSpPr/>
          <p:nvPr/>
        </p:nvSpPr>
        <p:spPr>
          <a:xfrm>
            <a:off x="4503986" y="7664053"/>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SPN-LWC</a:t>
            </a:r>
            <a:endParaRPr lang="en-US" sz="1725" dirty="0"/>
          </a:p>
        </p:txBody>
      </p:sp>
      <p:sp>
        <p:nvSpPr>
          <p:cNvPr id="53" name="Text 51"/>
          <p:cNvSpPr/>
          <p:nvPr/>
        </p:nvSpPr>
        <p:spPr>
          <a:xfrm>
            <a:off x="7378750" y="7664053"/>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938A7E"/>
                </a:solidFill>
                <a:latin typeface="Arial" pitchFamily="34" charset="0"/>
                <a:ea typeface="Arial" pitchFamily="34" charset="-122"/>
                <a:cs typeface="Arial" pitchFamily="34" charset="-120"/>
              </a:rPr>
              <a:t>no standard</a:t>
            </a:r>
            <a:endParaRPr lang="en-US" sz="1725" dirty="0"/>
          </a:p>
        </p:txBody>
      </p:sp>
      <p:sp>
        <p:nvSpPr>
          <p:cNvPr id="54" name="Text 52"/>
          <p:cNvSpPr/>
          <p:nvPr/>
        </p:nvSpPr>
        <p:spPr>
          <a:xfrm>
            <a:off x="10959554" y="7654528"/>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2E8056"/>
                </a:solidFill>
                <a:latin typeface="Arial" pitchFamily="34" charset="0"/>
                <a:ea typeface="Arial" pitchFamily="34" charset="-122"/>
                <a:cs typeface="Arial" pitchFamily="34" charset="-120"/>
              </a:rPr>
              <a:t>SECURE</a:t>
            </a:r>
            <a:endParaRPr lang="en-US" sz="1800" dirty="0"/>
          </a:p>
        </p:txBody>
      </p:sp>
      <p:sp>
        <p:nvSpPr>
          <p:cNvPr id="55" name="Text 53"/>
          <p:cNvSpPr/>
          <p:nvPr/>
        </p:nvSpPr>
        <p:spPr>
          <a:xfrm>
            <a:off x="13481149" y="7668816"/>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margin 63–88%</a:t>
            </a:r>
            <a:endParaRPr lang="en-US" sz="1575" dirty="0"/>
          </a:p>
        </p:txBody>
      </p:sp>
      <p:sp>
        <p:nvSpPr>
          <p:cNvPr id="56" name="Shape 54"/>
          <p:cNvSpPr/>
          <p:nvPr/>
        </p:nvSpPr>
        <p:spPr>
          <a:xfrm>
            <a:off x="1143000" y="8749903"/>
            <a:ext cx="16002000" cy="9525"/>
          </a:xfrm>
          <a:prstGeom prst="rect">
            <a:avLst/>
          </a:prstGeom>
          <a:solidFill>
            <a:srgbClr val="DCD6CA"/>
          </a:solidFill>
          <a:ln/>
        </p:spPr>
        <p:txBody>
          <a:bodyPr/>
          <a:lstStyle/>
          <a:p>
            <a:endParaRPr lang="de-DE"/>
          </a:p>
        </p:txBody>
      </p:sp>
      <p:sp>
        <p:nvSpPr>
          <p:cNvPr id="57" name="Text 55"/>
          <p:cNvSpPr/>
          <p:nvPr/>
        </p:nvSpPr>
        <p:spPr>
          <a:xfrm>
            <a:off x="1276350" y="8252966"/>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SKINNY</a:t>
            </a:r>
            <a:endParaRPr lang="en-US" sz="2325" dirty="0"/>
          </a:p>
        </p:txBody>
      </p:sp>
      <p:sp>
        <p:nvSpPr>
          <p:cNvPr id="58" name="Text 56"/>
          <p:cNvSpPr/>
          <p:nvPr/>
        </p:nvSpPr>
        <p:spPr>
          <a:xfrm>
            <a:off x="4503986" y="8305354"/>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SPN-TBC</a:t>
            </a:r>
            <a:endParaRPr lang="en-US" sz="1725" dirty="0"/>
          </a:p>
        </p:txBody>
      </p:sp>
      <p:sp>
        <p:nvSpPr>
          <p:cNvPr id="59" name="Text 57"/>
          <p:cNvSpPr/>
          <p:nvPr/>
        </p:nvSpPr>
        <p:spPr>
          <a:xfrm>
            <a:off x="7378750" y="8305354"/>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938A7E"/>
                </a:solidFill>
                <a:latin typeface="Arial" pitchFamily="34" charset="0"/>
                <a:ea typeface="Arial" pitchFamily="34" charset="-122"/>
                <a:cs typeface="Arial" pitchFamily="34" charset="-120"/>
              </a:rPr>
              <a:t>no standard</a:t>
            </a:r>
            <a:endParaRPr lang="en-US" sz="1725" dirty="0"/>
          </a:p>
        </p:txBody>
      </p:sp>
      <p:sp>
        <p:nvSpPr>
          <p:cNvPr id="60" name="Text 58"/>
          <p:cNvSpPr/>
          <p:nvPr/>
        </p:nvSpPr>
        <p:spPr>
          <a:xfrm>
            <a:off x="10959554" y="8295829"/>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2E8056"/>
                </a:solidFill>
                <a:latin typeface="Arial" pitchFamily="34" charset="0"/>
                <a:ea typeface="Arial" pitchFamily="34" charset="-122"/>
                <a:cs typeface="Arial" pitchFamily="34" charset="-120"/>
              </a:rPr>
              <a:t>SECURE</a:t>
            </a:r>
            <a:endParaRPr lang="en-US" sz="1800" dirty="0"/>
          </a:p>
        </p:txBody>
      </p:sp>
      <p:sp>
        <p:nvSpPr>
          <p:cNvPr id="61" name="Text 59"/>
          <p:cNvSpPr/>
          <p:nvPr/>
        </p:nvSpPr>
        <p:spPr>
          <a:xfrm>
            <a:off x="13481149" y="8310116"/>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margin 87.5%</a:t>
            </a:r>
            <a:endParaRPr lang="en-US" sz="1575" dirty="0"/>
          </a:p>
        </p:txBody>
      </p:sp>
      <p:sp>
        <p:nvSpPr>
          <p:cNvPr id="62" name="Text 60"/>
          <p:cNvSpPr/>
          <p:nvPr/>
        </p:nvSpPr>
        <p:spPr>
          <a:xfrm>
            <a:off x="1276350" y="8894266"/>
            <a:ext cx="3236074" cy="400050"/>
          </a:xfrm>
          <a:prstGeom prst="rect">
            <a:avLst/>
          </a:prstGeom>
          <a:noFill/>
          <a:ln/>
        </p:spPr>
        <p:txBody>
          <a:bodyPr wrap="square" lIns="25400" tIns="25400" rIns="25400" bIns="25400" rtlCol="0" anchor="t">
            <a:normAutofit/>
          </a:bodyPr>
          <a:lstStyle/>
          <a:p>
            <a:pPr marL="0" indent="0" algn="l">
              <a:buNone/>
            </a:pPr>
            <a:r>
              <a:rPr lang="en-US" sz="2325" b="1" dirty="0">
                <a:solidFill>
                  <a:srgbClr val="1A1714"/>
                </a:solidFill>
                <a:latin typeface="Arial" pitchFamily="34" charset="0"/>
                <a:ea typeface="Arial" pitchFamily="34" charset="-122"/>
                <a:cs typeface="Arial" pitchFamily="34" charset="-120"/>
              </a:rPr>
              <a:t>KATAN</a:t>
            </a:r>
            <a:endParaRPr lang="en-US" sz="2325" dirty="0"/>
          </a:p>
        </p:txBody>
      </p:sp>
      <p:sp>
        <p:nvSpPr>
          <p:cNvPr id="63" name="Text 61"/>
          <p:cNvSpPr/>
          <p:nvPr/>
        </p:nvSpPr>
        <p:spPr>
          <a:xfrm>
            <a:off x="4503986" y="8946654"/>
            <a:ext cx="2847915" cy="295275"/>
          </a:xfrm>
          <a:prstGeom prst="rect">
            <a:avLst/>
          </a:prstGeom>
          <a:noFill/>
          <a:ln/>
        </p:spPr>
        <p:txBody>
          <a:bodyPr wrap="square" lIns="25400" tIns="25400" rIns="25400" bIns="25400" rtlCol="0" anchor="t">
            <a:normAutofit/>
          </a:bodyPr>
          <a:lstStyle/>
          <a:p>
            <a:pPr marL="0" indent="0" algn="l">
              <a:buNone/>
            </a:pPr>
            <a:r>
              <a:rPr lang="en-US" sz="1725" dirty="0">
                <a:solidFill>
                  <a:srgbClr val="6A625A"/>
                </a:solidFill>
                <a:latin typeface="Arial" pitchFamily="34" charset="0"/>
                <a:ea typeface="Arial" pitchFamily="34" charset="-122"/>
                <a:cs typeface="Arial" pitchFamily="34" charset="-120"/>
              </a:rPr>
              <a:t>LFSR-block</a:t>
            </a:r>
            <a:endParaRPr lang="en-US" sz="1725" dirty="0"/>
          </a:p>
        </p:txBody>
      </p:sp>
      <p:sp>
        <p:nvSpPr>
          <p:cNvPr id="64" name="Text 62"/>
          <p:cNvSpPr/>
          <p:nvPr/>
        </p:nvSpPr>
        <p:spPr>
          <a:xfrm>
            <a:off x="7378750" y="8946654"/>
            <a:ext cx="3624560" cy="295275"/>
          </a:xfrm>
          <a:prstGeom prst="rect">
            <a:avLst/>
          </a:prstGeom>
          <a:noFill/>
          <a:ln/>
        </p:spPr>
        <p:txBody>
          <a:bodyPr wrap="square" lIns="25400" tIns="25400" rIns="25400" bIns="25400" rtlCol="0" anchor="t">
            <a:normAutofit/>
          </a:bodyPr>
          <a:lstStyle/>
          <a:p>
            <a:pPr marL="0" indent="0" algn="l">
              <a:buNone/>
            </a:pPr>
            <a:r>
              <a:rPr lang="en-US" sz="1725" dirty="0">
                <a:solidFill>
                  <a:srgbClr val="938A7E"/>
                </a:solidFill>
                <a:latin typeface="Arial" pitchFamily="34" charset="0"/>
                <a:ea typeface="Arial" pitchFamily="34" charset="-122"/>
                <a:cs typeface="Arial" pitchFamily="34" charset="-120"/>
              </a:rPr>
              <a:t>no standard</a:t>
            </a:r>
            <a:endParaRPr lang="en-US" sz="1725" dirty="0"/>
          </a:p>
        </p:txBody>
      </p:sp>
      <p:sp>
        <p:nvSpPr>
          <p:cNvPr id="65" name="Text 63"/>
          <p:cNvSpPr/>
          <p:nvPr/>
        </p:nvSpPr>
        <p:spPr>
          <a:xfrm>
            <a:off x="10959554" y="8937129"/>
            <a:ext cx="2459429" cy="314325"/>
          </a:xfrm>
          <a:prstGeom prst="rect">
            <a:avLst/>
          </a:prstGeom>
          <a:noFill/>
          <a:ln/>
        </p:spPr>
        <p:txBody>
          <a:bodyPr wrap="square" lIns="25400" tIns="25400" rIns="25400" bIns="25400" rtlCol="0" anchor="t">
            <a:normAutofit/>
          </a:bodyPr>
          <a:lstStyle/>
          <a:p>
            <a:pPr marL="0" indent="0" algn="l">
              <a:buNone/>
            </a:pPr>
            <a:r>
              <a:rPr lang="en-US" sz="1800" b="1" kern="0" spc="90" dirty="0">
                <a:solidFill>
                  <a:srgbClr val="2E8056"/>
                </a:solidFill>
                <a:latin typeface="Arial" pitchFamily="34" charset="0"/>
                <a:ea typeface="Arial" pitchFamily="34" charset="-122"/>
                <a:cs typeface="Arial" pitchFamily="34" charset="-120"/>
              </a:rPr>
              <a:t>SECURE</a:t>
            </a:r>
            <a:endParaRPr lang="en-US" sz="1800" dirty="0"/>
          </a:p>
        </p:txBody>
      </p:sp>
      <p:sp>
        <p:nvSpPr>
          <p:cNvPr id="66" name="Text 64"/>
          <p:cNvSpPr/>
          <p:nvPr/>
        </p:nvSpPr>
        <p:spPr>
          <a:xfrm>
            <a:off x="13481149" y="8951416"/>
            <a:ext cx="3883551"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margin 63–88%</a:t>
            </a:r>
            <a:endParaRPr lang="en-US" sz="15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314259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06 — THE MECHANISM</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2085975"/>
            <a:ext cx="8613978" cy="571500"/>
          </a:xfrm>
          <a:prstGeom prst="rect">
            <a:avLst/>
          </a:prstGeom>
          <a:noFill/>
          <a:ln/>
        </p:spPr>
        <p:txBody>
          <a:bodyPr wrap="square" lIns="25400" tIns="25400" rIns="25400" bIns="25400" rtlCol="0" anchor="t">
            <a:normAutofit/>
          </a:bodyPr>
          <a:lstStyle/>
          <a:p>
            <a:pPr marL="0" indent="0" algn="l">
              <a:lnSpc>
                <a:spcPct val="104000"/>
              </a:lnSpc>
              <a:buNone/>
            </a:pPr>
            <a:r>
              <a:rPr lang="en-US" sz="4050" kern="0" spc="-49" dirty="0">
                <a:solidFill>
                  <a:srgbClr val="1A1714"/>
                </a:solidFill>
                <a:latin typeface="Georgia" pitchFamily="34" charset="0"/>
                <a:ea typeface="Georgia" pitchFamily="34" charset="-122"/>
                <a:cs typeface="Georgia" pitchFamily="34" charset="-120"/>
              </a:rPr>
              <a:t>The leak, in the cipher’s own wiring</a:t>
            </a:r>
            <a:endParaRPr lang="en-US" sz="4050" dirty="0"/>
          </a:p>
        </p:txBody>
      </p:sp>
      <p:sp>
        <p:nvSpPr>
          <p:cNvPr id="6" name="Text 4"/>
          <p:cNvSpPr/>
          <p:nvPr/>
        </p:nvSpPr>
        <p:spPr>
          <a:xfrm>
            <a:off x="12954583" y="1676400"/>
            <a:ext cx="4190417" cy="981075"/>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6A625A"/>
                </a:solidFill>
                <a:latin typeface="Arial" pitchFamily="34" charset="0"/>
                <a:ea typeface="Arial" pitchFamily="34" charset="-122"/>
                <a:cs typeface="Arial" pitchFamily="34" charset="-120"/>
              </a:rPr>
              <a:t>One round of each cipher, side by side — the official Speck and SIMON round functions.</a:t>
            </a:r>
            <a:endParaRPr lang="en-US" sz="18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847975"/>
            <a:ext cx="16002000" cy="5172075"/>
          </a:xfrm>
          <a:prstGeom prst="rect">
            <a:avLst/>
          </a:prstGeom>
        </p:spPr>
      </p:pic>
      <p:sp>
        <p:nvSpPr>
          <p:cNvPr id="8" name="Shape 5"/>
          <p:cNvSpPr/>
          <p:nvPr/>
        </p:nvSpPr>
        <p:spPr>
          <a:xfrm>
            <a:off x="1143000" y="8229600"/>
            <a:ext cx="16002000" cy="9525"/>
          </a:xfrm>
          <a:prstGeom prst="rect">
            <a:avLst/>
          </a:prstGeom>
          <a:solidFill>
            <a:srgbClr val="DCD6CA"/>
          </a:solidFill>
          <a:ln/>
        </p:spPr>
        <p:txBody>
          <a:bodyPr/>
          <a:lstStyle/>
          <a:p>
            <a:endParaRPr lang="de-DE"/>
          </a:p>
        </p:txBody>
      </p:sp>
      <p:sp>
        <p:nvSpPr>
          <p:cNvPr id="9" name="Text 6"/>
          <p:cNvSpPr/>
          <p:nvPr/>
        </p:nvSpPr>
        <p:spPr>
          <a:xfrm>
            <a:off x="1143000" y="8448675"/>
            <a:ext cx="7946708" cy="981075"/>
          </a:xfrm>
          <a:prstGeom prst="rect">
            <a:avLst/>
          </a:prstGeom>
          <a:noFill/>
          <a:ln/>
        </p:spPr>
        <p:txBody>
          <a:bodyPr wrap="square" lIns="25400" tIns="25400" rIns="25400" bIns="25400" rtlCol="0" anchor="t">
            <a:normAutofit/>
          </a:bodyPr>
          <a:lstStyle/>
          <a:p>
            <a:pPr marL="0" indent="0" algn="l">
              <a:lnSpc>
                <a:spcPct val="145000"/>
              </a:lnSpc>
              <a:buNone/>
            </a:pPr>
            <a:r>
              <a:rPr lang="en-US" sz="1725" b="1" dirty="0">
                <a:solidFill>
                  <a:srgbClr val="1A1714"/>
                </a:solidFill>
                <a:latin typeface="Arial" pitchFamily="34" charset="0"/>
                <a:ea typeface="Arial" pitchFamily="34" charset="-122"/>
                <a:cs typeface="Arial" pitchFamily="34" charset="-120"/>
              </a:rPr>
              <a:t>How to read these: </a:t>
            </a:r>
            <a:r>
              <a:rPr lang="en-US" sz="1725" dirty="0">
                <a:solidFill>
                  <a:srgbClr val="6A625A"/>
                </a:solidFill>
                <a:latin typeface="Arial" pitchFamily="34" charset="0"/>
                <a:ea typeface="Arial" pitchFamily="34" charset="-122"/>
                <a:cs typeface="Arial" pitchFamily="34" charset="-120"/>
              </a:rPr>
              <a:t>each diagram is one round of scrambling — inputs flow down to outputs. </a:t>
            </a:r>
            <a:r>
              <a:rPr lang="en-US" sz="1725" b="1" dirty="0">
                <a:solidFill>
                  <a:srgbClr val="1A1714"/>
                </a:solidFill>
                <a:latin typeface="Arial" pitchFamily="34" charset="0"/>
                <a:ea typeface="Arial" pitchFamily="34" charset="-122"/>
                <a:cs typeface="Arial" pitchFamily="34" charset="-120"/>
              </a:rPr>
              <a:t>⊞ </a:t>
            </a:r>
            <a:r>
              <a:rPr lang="en-US" sz="1725" dirty="0">
                <a:solidFill>
                  <a:srgbClr val="6A625A"/>
                </a:solidFill>
                <a:latin typeface="Arial" pitchFamily="34" charset="0"/>
                <a:ea typeface="Arial" pitchFamily="34" charset="-122"/>
                <a:cs typeface="Arial" pitchFamily="34" charset="-120"/>
              </a:rPr>
              <a:t>is addition, </a:t>
            </a:r>
            <a:r>
              <a:rPr lang="en-US" sz="1725" b="1" dirty="0">
                <a:solidFill>
                  <a:srgbClr val="1A1714"/>
                </a:solidFill>
                <a:latin typeface="Arial" pitchFamily="34" charset="0"/>
                <a:ea typeface="Arial" pitchFamily="34" charset="-122"/>
                <a:cs typeface="Arial" pitchFamily="34" charset="-120"/>
              </a:rPr>
              <a:t>⊕ </a:t>
            </a:r>
            <a:r>
              <a:rPr lang="en-US" sz="1725" dirty="0">
                <a:solidFill>
                  <a:srgbClr val="6A625A"/>
                </a:solidFill>
                <a:latin typeface="Arial" pitchFamily="34" charset="0"/>
                <a:ea typeface="Arial" pitchFamily="34" charset="-122"/>
                <a:cs typeface="Arial" pitchFamily="34" charset="-120"/>
              </a:rPr>
              <a:t>is XOR, </a:t>
            </a:r>
            <a:r>
              <a:rPr lang="en-US" sz="1725" b="1" dirty="0">
                <a:solidFill>
                  <a:srgbClr val="1A1714"/>
                </a:solidFill>
                <a:latin typeface="Arial" pitchFamily="34" charset="0"/>
                <a:ea typeface="Arial" pitchFamily="34" charset="-122"/>
                <a:cs typeface="Arial" pitchFamily="34" charset="-120"/>
              </a:rPr>
              <a:t>S </a:t>
            </a:r>
            <a:r>
              <a:rPr lang="en-US" sz="1725" dirty="0">
                <a:solidFill>
                  <a:srgbClr val="6A625A"/>
                </a:solidFill>
                <a:latin typeface="Arial" pitchFamily="34" charset="0"/>
                <a:ea typeface="Arial" pitchFamily="34" charset="-122"/>
                <a:cs typeface="Arial" pitchFamily="34" charset="-120"/>
              </a:rPr>
              <a:t>is a bit-rotation.</a:t>
            </a:r>
            <a:endParaRPr lang="en-US" sz="1725" dirty="0"/>
          </a:p>
        </p:txBody>
      </p:sp>
      <p:sp>
        <p:nvSpPr>
          <p:cNvPr id="10" name="Text 7"/>
          <p:cNvSpPr/>
          <p:nvPr/>
        </p:nvSpPr>
        <p:spPr>
          <a:xfrm>
            <a:off x="9429750" y="8448675"/>
            <a:ext cx="7946708" cy="981075"/>
          </a:xfrm>
          <a:prstGeom prst="rect">
            <a:avLst/>
          </a:prstGeom>
          <a:noFill/>
          <a:ln/>
        </p:spPr>
        <p:txBody>
          <a:bodyPr wrap="square" lIns="25400" tIns="25400" rIns="25400" bIns="25400" rtlCol="0" anchor="t">
            <a:normAutofit/>
          </a:bodyPr>
          <a:lstStyle/>
          <a:p>
            <a:pPr marL="0" indent="0" algn="l">
              <a:lnSpc>
                <a:spcPct val="145000"/>
              </a:lnSpc>
              <a:buNone/>
            </a:pPr>
            <a:r>
              <a:rPr lang="en-US" sz="1725" b="1" dirty="0">
                <a:solidFill>
                  <a:srgbClr val="1A1714"/>
                </a:solidFill>
                <a:latin typeface="Arial" pitchFamily="34" charset="0"/>
                <a:ea typeface="Arial" pitchFamily="34" charset="-122"/>
                <a:cs typeface="Arial" pitchFamily="34" charset="-120"/>
              </a:rPr>
              <a:t>The rule: </a:t>
            </a:r>
            <a:r>
              <a:rPr lang="en-US" sz="1725" dirty="0">
                <a:solidFill>
                  <a:srgbClr val="6A625A"/>
                </a:solidFill>
                <a:latin typeface="Arial" pitchFamily="34" charset="0"/>
                <a:ea typeface="Arial" pitchFamily="34" charset="-122"/>
                <a:cs typeface="Arial" pitchFamily="34" charset="-120"/>
              </a:rPr>
              <a:t>a permanent leak appears </a:t>
            </a:r>
            <a:r>
              <a:rPr lang="en-US" sz="1725" i="1" dirty="0">
                <a:solidFill>
                  <a:srgbClr val="6A625A"/>
                </a:solidFill>
                <a:latin typeface="Arial" pitchFamily="34" charset="0"/>
                <a:ea typeface="Arial" pitchFamily="34" charset="-122"/>
                <a:cs typeface="Arial" pitchFamily="34" charset="-120"/>
              </a:rPr>
              <a:t>exactly when </a:t>
            </a:r>
            <a:r>
              <a:rPr lang="en-US" sz="1725" dirty="0">
                <a:solidFill>
                  <a:srgbClr val="6A625A"/>
                </a:solidFill>
                <a:latin typeface="Arial" pitchFamily="34" charset="0"/>
                <a:ea typeface="Arial" pitchFamily="34" charset="-122"/>
                <a:cs typeface="Arial" pitchFamily="34" charset="-120"/>
              </a:rPr>
              <a:t>an addition feeds the state without being rotated first. That single choice is why Speck leaks and SIMON doesn’t — and </a:t>
            </a:r>
            <a:r>
              <a:rPr lang="en-US" sz="1725" b="1" dirty="0">
                <a:solidFill>
                  <a:srgbClr val="1A1714"/>
                </a:solidFill>
                <a:latin typeface="Arial" pitchFamily="34" charset="0"/>
                <a:ea typeface="Arial" pitchFamily="34" charset="-122"/>
                <a:cs typeface="Arial" pitchFamily="34" charset="-120"/>
              </a:rPr>
              <a:t>F8 </a:t>
            </a:r>
            <a:r>
              <a:rPr lang="en-US" sz="1725" dirty="0">
                <a:solidFill>
                  <a:srgbClr val="6A625A"/>
                </a:solidFill>
                <a:latin typeface="Arial" pitchFamily="34" charset="0"/>
                <a:ea typeface="Arial" pitchFamily="34" charset="-122"/>
                <a:cs typeface="Arial" pitchFamily="34" charset="-120"/>
              </a:rPr>
              <a:t>measures it.</a:t>
            </a:r>
            <a:endParaRPr lang="en-US" sz="17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335500"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07 — THE TWINS</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714500"/>
            <a:ext cx="17602200" cy="762000"/>
          </a:xfrm>
          <a:prstGeom prst="rect">
            <a:avLst/>
          </a:prstGeom>
          <a:noFill/>
          <a:ln/>
        </p:spPr>
        <p:txBody>
          <a:bodyPr wrap="square" lIns="25400" tIns="25400" rIns="25400" bIns="25400" rtlCol="0" anchor="t">
            <a:normAutofit/>
          </a:bodyPr>
          <a:lstStyle/>
          <a:p>
            <a:pPr marL="0" indent="0" algn="l">
              <a:lnSpc>
                <a:spcPct val="104000"/>
              </a:lnSpc>
              <a:buNone/>
            </a:pPr>
            <a:r>
              <a:rPr lang="en-US" sz="5550" kern="0" spc="-67" dirty="0">
                <a:solidFill>
                  <a:srgbClr val="1A1714"/>
                </a:solidFill>
                <a:latin typeface="Georgia" pitchFamily="34" charset="0"/>
                <a:ea typeface="Georgia" pitchFamily="34" charset="-122"/>
                <a:cs typeface="Georgia" pitchFamily="34" charset="-120"/>
              </a:rPr>
              <a:t>Same parents, opposite fate</a:t>
            </a:r>
            <a:endParaRPr lang="en-US" sz="5550" dirty="0"/>
          </a:p>
        </p:txBody>
      </p:sp>
      <p:sp>
        <p:nvSpPr>
          <p:cNvPr id="6" name="Text 4"/>
          <p:cNvSpPr/>
          <p:nvPr/>
        </p:nvSpPr>
        <p:spPr>
          <a:xfrm>
            <a:off x="1143000" y="2533650"/>
            <a:ext cx="11349045" cy="628650"/>
          </a:xfrm>
          <a:prstGeom prst="rect">
            <a:avLst/>
          </a:prstGeom>
          <a:noFill/>
          <a:ln/>
        </p:spPr>
        <p:txBody>
          <a:bodyPr wrap="square" lIns="25400" tIns="25400" rIns="25400" bIns="25400" rtlCol="0" anchor="t">
            <a:normAutofit/>
          </a:bodyPr>
          <a:lstStyle/>
          <a:p>
            <a:pPr marL="0" indent="0" algn="l">
              <a:buNone/>
            </a:pPr>
            <a:r>
              <a:rPr lang="en-US" sz="1950" dirty="0">
                <a:solidFill>
                  <a:srgbClr val="6A625A"/>
                </a:solidFill>
                <a:latin typeface="Arial" pitchFamily="34" charset="0"/>
                <a:ea typeface="Arial" pitchFamily="34" charset="-122"/>
                <a:cs typeface="Arial" pitchFamily="34" charset="-120"/>
              </a:rPr>
              <a:t>Speck and SIMON — same standards series, same design team (NSA, 2013), same block and key sizes. By every spec sheet, interchangeable.</a:t>
            </a:r>
            <a:endParaRPr lang="en-US" sz="1950" dirty="0"/>
          </a:p>
        </p:txBody>
      </p:sp>
      <p:sp>
        <p:nvSpPr>
          <p:cNvPr id="7" name="Shape 5"/>
          <p:cNvSpPr/>
          <p:nvPr/>
        </p:nvSpPr>
        <p:spPr>
          <a:xfrm>
            <a:off x="0" y="3467100"/>
            <a:ext cx="9144000" cy="5200650"/>
          </a:xfrm>
          <a:prstGeom prst="rect">
            <a:avLst/>
          </a:prstGeom>
          <a:solidFill>
            <a:srgbClr val="F2E0D8"/>
          </a:solidFill>
          <a:ln/>
        </p:spPr>
        <p:txBody>
          <a:bodyPr/>
          <a:lstStyle/>
          <a:p>
            <a:endParaRPr lang="de-DE"/>
          </a:p>
        </p:txBody>
      </p:sp>
      <p:sp>
        <p:nvSpPr>
          <p:cNvPr id="8" name="Text 6"/>
          <p:cNvSpPr/>
          <p:nvPr/>
        </p:nvSpPr>
        <p:spPr>
          <a:xfrm>
            <a:off x="1143000" y="3924300"/>
            <a:ext cx="1912144" cy="704850"/>
          </a:xfrm>
          <a:prstGeom prst="rect">
            <a:avLst/>
          </a:prstGeom>
          <a:noFill/>
          <a:ln/>
        </p:spPr>
        <p:txBody>
          <a:bodyPr wrap="square" lIns="25400" tIns="25400" rIns="25400" bIns="25400" rtlCol="0" anchor="t">
            <a:normAutofit/>
          </a:bodyPr>
          <a:lstStyle/>
          <a:p>
            <a:pPr marL="0" indent="0" algn="l">
              <a:buNone/>
            </a:pPr>
            <a:r>
              <a:rPr lang="en-US" sz="4500" b="1" dirty="0">
                <a:solidFill>
                  <a:srgbClr val="BC4226"/>
                </a:solidFill>
                <a:latin typeface="Georgia" pitchFamily="34" charset="0"/>
                <a:ea typeface="Georgia" pitchFamily="34" charset="-122"/>
                <a:cs typeface="Georgia" pitchFamily="34" charset="-120"/>
              </a:rPr>
              <a:t>Speck</a:t>
            </a:r>
            <a:endParaRPr lang="en-US" sz="4500" dirty="0"/>
          </a:p>
        </p:txBody>
      </p:sp>
      <p:sp>
        <p:nvSpPr>
          <p:cNvPr id="9" name="Text 7"/>
          <p:cNvSpPr/>
          <p:nvPr/>
        </p:nvSpPr>
        <p:spPr>
          <a:xfrm>
            <a:off x="6842671" y="4267200"/>
            <a:ext cx="1798037"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ISO/IEC 29167-22</a:t>
            </a:r>
            <a:endParaRPr lang="en-US" sz="1575" dirty="0"/>
          </a:p>
        </p:txBody>
      </p:sp>
      <p:sp>
        <p:nvSpPr>
          <p:cNvPr id="10" name="Text 8"/>
          <p:cNvSpPr/>
          <p:nvPr/>
        </p:nvSpPr>
        <p:spPr>
          <a:xfrm>
            <a:off x="1143000" y="4838700"/>
            <a:ext cx="8067675" cy="457200"/>
          </a:xfrm>
          <a:prstGeom prst="rect">
            <a:avLst/>
          </a:prstGeom>
          <a:noFill/>
          <a:ln/>
        </p:spPr>
        <p:txBody>
          <a:bodyPr wrap="square" lIns="25400" tIns="25400" rIns="25400" bIns="25400" rtlCol="0" anchor="t">
            <a:normAutofit/>
          </a:bodyPr>
          <a:lstStyle/>
          <a:p>
            <a:pPr marL="0" indent="0" algn="l">
              <a:lnSpc>
                <a:spcPct val="130000"/>
              </a:lnSpc>
              <a:buNone/>
            </a:pPr>
            <a:r>
              <a:rPr lang="en-US" sz="2550" dirty="0">
                <a:solidFill>
                  <a:srgbClr val="1A1714"/>
                </a:solidFill>
                <a:latin typeface="Arial" pitchFamily="34" charset="0"/>
                <a:ea typeface="Arial" pitchFamily="34" charset="-122"/>
                <a:cs typeface="Arial" pitchFamily="34" charset="-120"/>
              </a:rPr>
              <a:t>uses modular </a:t>
            </a:r>
            <a:r>
              <a:rPr lang="en-US" sz="2550" b="1" dirty="0">
                <a:solidFill>
                  <a:srgbClr val="BC4226"/>
                </a:solidFill>
                <a:latin typeface="Arial" pitchFamily="34" charset="0"/>
                <a:ea typeface="Arial" pitchFamily="34" charset="-122"/>
                <a:cs typeface="Arial" pitchFamily="34" charset="-120"/>
              </a:rPr>
              <a:t>addition </a:t>
            </a:r>
            <a:r>
              <a:rPr lang="en-US" sz="2550" dirty="0">
                <a:solidFill>
                  <a:srgbClr val="1A1714"/>
                </a:solidFill>
                <a:latin typeface="Arial" pitchFamily="34" charset="0"/>
                <a:ea typeface="Arial" pitchFamily="34" charset="-122"/>
                <a:cs typeface="Arial" pitchFamily="34" charset="-120"/>
              </a:rPr>
              <a:t>⊞</a:t>
            </a:r>
            <a:endParaRPr lang="en-US" sz="2550" dirty="0"/>
          </a:p>
        </p:txBody>
      </p:sp>
      <p:sp>
        <p:nvSpPr>
          <p:cNvPr id="11" name="Text 9"/>
          <p:cNvSpPr/>
          <p:nvPr/>
        </p:nvSpPr>
        <p:spPr>
          <a:xfrm>
            <a:off x="1143000" y="5372100"/>
            <a:ext cx="8067675" cy="371475"/>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7A2E17"/>
                </a:solidFill>
                <a:latin typeface="Arial" pitchFamily="34" charset="0"/>
                <a:ea typeface="Arial" pitchFamily="34" charset="-122"/>
                <a:cs typeface="Arial" pitchFamily="34" charset="-120"/>
              </a:rPr>
              <a:t>the carry chain leaves a permanent pattern</a:t>
            </a:r>
            <a:endParaRPr lang="en-US" sz="1875" dirty="0"/>
          </a:p>
        </p:txBody>
      </p:sp>
      <p:sp>
        <p:nvSpPr>
          <p:cNvPr id="12" name="Text 10"/>
          <p:cNvSpPr/>
          <p:nvPr/>
        </p:nvSpPr>
        <p:spPr>
          <a:xfrm>
            <a:off x="1143000" y="7229475"/>
            <a:ext cx="8067675" cy="628650"/>
          </a:xfrm>
          <a:prstGeom prst="rect">
            <a:avLst/>
          </a:prstGeom>
          <a:noFill/>
          <a:ln/>
        </p:spPr>
        <p:txBody>
          <a:bodyPr wrap="square" lIns="25400" tIns="25400" rIns="25400" bIns="25400" rtlCol="0" anchor="t">
            <a:normAutofit/>
          </a:bodyPr>
          <a:lstStyle/>
          <a:p>
            <a:pPr marL="0" indent="0" algn="l">
              <a:buNone/>
            </a:pPr>
            <a:r>
              <a:rPr lang="en-US" sz="4050" b="1" dirty="0">
                <a:solidFill>
                  <a:srgbClr val="BC4226"/>
                </a:solidFill>
                <a:latin typeface="Georgia" pitchFamily="34" charset="0"/>
                <a:ea typeface="Georgia" pitchFamily="34" charset="-122"/>
                <a:cs typeface="Georgia" pitchFamily="34" charset="-120"/>
              </a:rPr>
              <a:t>BROKEN</a:t>
            </a:r>
            <a:endParaRPr lang="en-US" sz="4050" dirty="0"/>
          </a:p>
        </p:txBody>
      </p:sp>
      <p:sp>
        <p:nvSpPr>
          <p:cNvPr id="13" name="Text 11"/>
          <p:cNvSpPr/>
          <p:nvPr/>
        </p:nvSpPr>
        <p:spPr>
          <a:xfrm>
            <a:off x="1143000" y="7896225"/>
            <a:ext cx="8067675" cy="352425"/>
          </a:xfrm>
          <a:prstGeom prst="rect">
            <a:avLst/>
          </a:prstGeom>
          <a:noFill/>
          <a:ln/>
        </p:spPr>
        <p:txBody>
          <a:bodyPr wrap="square" lIns="25400" tIns="25400" rIns="25400" bIns="25400" rtlCol="0" anchor="t">
            <a:normAutofit/>
          </a:bodyPr>
          <a:lstStyle/>
          <a:p>
            <a:pPr marL="0" indent="0" algn="l">
              <a:lnSpc>
                <a:spcPct val="150000"/>
              </a:lnSpc>
              <a:buNone/>
            </a:pPr>
            <a:r>
              <a:rPr lang="en-US" sz="1650" dirty="0">
                <a:solidFill>
                  <a:srgbClr val="BC4226"/>
                </a:solidFill>
                <a:latin typeface="Arial" pitchFamily="34" charset="0"/>
                <a:ea typeface="Arial" pitchFamily="34" charset="-122"/>
                <a:cs typeface="Arial" pitchFamily="34" charset="-120"/>
              </a:rPr>
              <a:t>F8 t = +17.9 … +40.4 · all 10 variants, full rounds</a:t>
            </a:r>
            <a:endParaRPr lang="en-US" sz="1650" dirty="0"/>
          </a:p>
        </p:txBody>
      </p:sp>
      <p:sp>
        <p:nvSpPr>
          <p:cNvPr id="14" name="Shape 12"/>
          <p:cNvSpPr/>
          <p:nvPr/>
        </p:nvSpPr>
        <p:spPr>
          <a:xfrm>
            <a:off x="9144000" y="3467100"/>
            <a:ext cx="9144000" cy="5200650"/>
          </a:xfrm>
          <a:prstGeom prst="rect">
            <a:avLst/>
          </a:prstGeom>
          <a:solidFill>
            <a:srgbClr val="DEE8F1"/>
          </a:solidFill>
          <a:ln/>
        </p:spPr>
        <p:txBody>
          <a:bodyPr/>
          <a:lstStyle/>
          <a:p>
            <a:endParaRPr lang="de-DE"/>
          </a:p>
        </p:txBody>
      </p:sp>
      <p:sp>
        <p:nvSpPr>
          <p:cNvPr id="15" name="Text 13"/>
          <p:cNvSpPr/>
          <p:nvPr/>
        </p:nvSpPr>
        <p:spPr>
          <a:xfrm>
            <a:off x="9810750" y="3924300"/>
            <a:ext cx="2374627" cy="704850"/>
          </a:xfrm>
          <a:prstGeom prst="rect">
            <a:avLst/>
          </a:prstGeom>
          <a:noFill/>
          <a:ln/>
        </p:spPr>
        <p:txBody>
          <a:bodyPr wrap="square" lIns="25400" tIns="25400" rIns="25400" bIns="25400" rtlCol="0" anchor="t">
            <a:normAutofit/>
          </a:bodyPr>
          <a:lstStyle/>
          <a:p>
            <a:pPr marL="0" indent="0" algn="l">
              <a:buNone/>
            </a:pPr>
            <a:r>
              <a:rPr lang="en-US" sz="4500" b="1" dirty="0">
                <a:solidFill>
                  <a:srgbClr val="2C6CA6"/>
                </a:solidFill>
                <a:latin typeface="Georgia" pitchFamily="34" charset="0"/>
                <a:ea typeface="Georgia" pitchFamily="34" charset="-122"/>
                <a:cs typeface="Georgia" pitchFamily="34" charset="-120"/>
              </a:rPr>
              <a:t>SIMON</a:t>
            </a:r>
            <a:endParaRPr lang="en-US" sz="4500" dirty="0"/>
          </a:p>
        </p:txBody>
      </p:sp>
      <p:sp>
        <p:nvSpPr>
          <p:cNvPr id="16" name="Text 14"/>
          <p:cNvSpPr/>
          <p:nvPr/>
        </p:nvSpPr>
        <p:spPr>
          <a:xfrm>
            <a:off x="15510421" y="4267200"/>
            <a:ext cx="1798037" cy="285750"/>
          </a:xfrm>
          <a:prstGeom prst="rect">
            <a:avLst/>
          </a:prstGeom>
          <a:noFill/>
          <a:ln/>
        </p:spPr>
        <p:txBody>
          <a:bodyPr wrap="square" lIns="25400" tIns="25400" rIns="25400" bIns="25400" rtlCol="0" anchor="t">
            <a:normAutofit/>
          </a:bodyPr>
          <a:lstStyle/>
          <a:p>
            <a:pPr marL="0" indent="0" algn="l">
              <a:buNone/>
            </a:pPr>
            <a:r>
              <a:rPr lang="en-US" sz="1575" dirty="0">
                <a:solidFill>
                  <a:srgbClr val="6A625A"/>
                </a:solidFill>
                <a:latin typeface="Arial" pitchFamily="34" charset="0"/>
                <a:ea typeface="Arial" pitchFamily="34" charset="-122"/>
                <a:cs typeface="Arial" pitchFamily="34" charset="-120"/>
              </a:rPr>
              <a:t>ISO/IEC 29167-21</a:t>
            </a:r>
            <a:endParaRPr lang="en-US" sz="1575" dirty="0"/>
          </a:p>
        </p:txBody>
      </p:sp>
      <p:sp>
        <p:nvSpPr>
          <p:cNvPr id="17" name="Text 15"/>
          <p:cNvSpPr/>
          <p:nvPr/>
        </p:nvSpPr>
        <p:spPr>
          <a:xfrm>
            <a:off x="9810750" y="4838700"/>
            <a:ext cx="8067675" cy="457200"/>
          </a:xfrm>
          <a:prstGeom prst="rect">
            <a:avLst/>
          </a:prstGeom>
          <a:noFill/>
          <a:ln/>
        </p:spPr>
        <p:txBody>
          <a:bodyPr wrap="square" lIns="25400" tIns="25400" rIns="25400" bIns="25400" rtlCol="0" anchor="t">
            <a:normAutofit/>
          </a:bodyPr>
          <a:lstStyle/>
          <a:p>
            <a:pPr marL="0" indent="0" algn="l">
              <a:lnSpc>
                <a:spcPct val="130000"/>
              </a:lnSpc>
              <a:buNone/>
            </a:pPr>
            <a:r>
              <a:rPr lang="en-US" sz="2550" dirty="0">
                <a:solidFill>
                  <a:srgbClr val="1A1714"/>
                </a:solidFill>
                <a:latin typeface="Arial" pitchFamily="34" charset="0"/>
                <a:ea typeface="Arial" pitchFamily="34" charset="-122"/>
                <a:cs typeface="Arial" pitchFamily="34" charset="-120"/>
              </a:rPr>
              <a:t>only </a:t>
            </a:r>
            <a:r>
              <a:rPr lang="en-US" sz="2550" b="1" dirty="0">
                <a:solidFill>
                  <a:srgbClr val="2C6CA6"/>
                </a:solidFill>
                <a:latin typeface="Arial" pitchFamily="34" charset="0"/>
                <a:ea typeface="Arial" pitchFamily="34" charset="-122"/>
                <a:cs typeface="Arial" pitchFamily="34" charset="-120"/>
              </a:rPr>
              <a:t>AND · rotate · XOR</a:t>
            </a:r>
            <a:endParaRPr lang="en-US" sz="2550" dirty="0"/>
          </a:p>
        </p:txBody>
      </p:sp>
      <p:sp>
        <p:nvSpPr>
          <p:cNvPr id="18" name="Text 16"/>
          <p:cNvSpPr/>
          <p:nvPr/>
        </p:nvSpPr>
        <p:spPr>
          <a:xfrm>
            <a:off x="9810750" y="5372100"/>
            <a:ext cx="8067675" cy="371475"/>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1E4E78"/>
                </a:solidFill>
                <a:latin typeface="Arial" pitchFamily="34" charset="0"/>
                <a:ea typeface="Arial" pitchFamily="34" charset="-122"/>
                <a:cs typeface="Arial" pitchFamily="34" charset="-120"/>
              </a:rPr>
              <a:t>no addition ⇒ no carry chain ⇒ no pattern</a:t>
            </a:r>
            <a:endParaRPr lang="en-US" sz="1875" dirty="0"/>
          </a:p>
        </p:txBody>
      </p:sp>
      <p:sp>
        <p:nvSpPr>
          <p:cNvPr id="19" name="Text 17"/>
          <p:cNvSpPr/>
          <p:nvPr/>
        </p:nvSpPr>
        <p:spPr>
          <a:xfrm>
            <a:off x="9810750" y="7229475"/>
            <a:ext cx="8067675" cy="628650"/>
          </a:xfrm>
          <a:prstGeom prst="rect">
            <a:avLst/>
          </a:prstGeom>
          <a:noFill/>
          <a:ln/>
        </p:spPr>
        <p:txBody>
          <a:bodyPr wrap="square" lIns="25400" tIns="25400" rIns="25400" bIns="25400" rtlCol="0" anchor="t">
            <a:normAutofit/>
          </a:bodyPr>
          <a:lstStyle/>
          <a:p>
            <a:pPr marL="0" indent="0" algn="l">
              <a:buNone/>
            </a:pPr>
            <a:r>
              <a:rPr lang="en-US" sz="4050" b="1" dirty="0">
                <a:solidFill>
                  <a:srgbClr val="2C6CA6"/>
                </a:solidFill>
                <a:latin typeface="Georgia" pitchFamily="34" charset="0"/>
                <a:ea typeface="Georgia" pitchFamily="34" charset="-122"/>
                <a:cs typeface="Georgia" pitchFamily="34" charset="-120"/>
              </a:rPr>
              <a:t>IMMUNE</a:t>
            </a:r>
            <a:endParaRPr lang="en-US" sz="4050" dirty="0"/>
          </a:p>
        </p:txBody>
      </p:sp>
      <p:sp>
        <p:nvSpPr>
          <p:cNvPr id="20" name="Text 18"/>
          <p:cNvSpPr/>
          <p:nvPr/>
        </p:nvSpPr>
        <p:spPr>
          <a:xfrm>
            <a:off x="9810750" y="7896225"/>
            <a:ext cx="8067675" cy="352425"/>
          </a:xfrm>
          <a:prstGeom prst="rect">
            <a:avLst/>
          </a:prstGeom>
          <a:noFill/>
          <a:ln/>
        </p:spPr>
        <p:txBody>
          <a:bodyPr wrap="square" lIns="25400" tIns="25400" rIns="25400" bIns="25400" rtlCol="0" anchor="t">
            <a:normAutofit/>
          </a:bodyPr>
          <a:lstStyle/>
          <a:p>
            <a:pPr marL="0" indent="0" algn="l">
              <a:lnSpc>
                <a:spcPct val="150000"/>
              </a:lnSpc>
              <a:buNone/>
            </a:pPr>
            <a:r>
              <a:rPr lang="en-US" sz="1650" dirty="0">
                <a:solidFill>
                  <a:srgbClr val="2C6CA6"/>
                </a:solidFill>
                <a:latin typeface="Arial" pitchFamily="34" charset="0"/>
                <a:ea typeface="Arial" pitchFamily="34" charset="-122"/>
                <a:cs typeface="Arial" pitchFamily="34" charset="-120"/>
              </a:rPr>
              <a:t>F8 t &lt; 2.3 · indistinguishable from random</a:t>
            </a:r>
            <a:endParaRPr lang="en-US" sz="1650" dirty="0"/>
          </a:p>
        </p:txBody>
      </p:sp>
      <p:sp>
        <p:nvSpPr>
          <p:cNvPr id="21" name="Text 19"/>
          <p:cNvSpPr/>
          <p:nvPr/>
        </p:nvSpPr>
        <p:spPr>
          <a:xfrm>
            <a:off x="1143000" y="9134475"/>
            <a:ext cx="2315200" cy="276225"/>
          </a:xfrm>
          <a:prstGeom prst="rect">
            <a:avLst/>
          </a:prstGeom>
          <a:noFill/>
          <a:ln/>
        </p:spPr>
        <p:txBody>
          <a:bodyPr wrap="none" lIns="25400" tIns="25400" rIns="25400" bIns="25400" rtlCol="0" anchor="t">
            <a:normAutofit/>
          </a:bodyPr>
          <a:lstStyle/>
          <a:p>
            <a:pPr marL="0" indent="0" algn="l">
              <a:buNone/>
            </a:pPr>
            <a:r>
              <a:rPr lang="en-US" sz="1500" kern="0" spc="150" dirty="0">
                <a:solidFill>
                  <a:srgbClr val="2C6CA6"/>
                </a:solidFill>
                <a:latin typeface="Arial" pitchFamily="34" charset="0"/>
                <a:ea typeface="Arial" pitchFamily="34" charset="-122"/>
                <a:cs typeface="Arial" pitchFamily="34" charset="-120"/>
              </a:rPr>
              <a:t>RECOMMENDATION</a:t>
            </a:r>
            <a:endParaRPr lang="en-US" sz="1500" dirty="0"/>
          </a:p>
        </p:txBody>
      </p:sp>
      <p:sp>
        <p:nvSpPr>
          <p:cNvPr id="22" name="Text 20"/>
          <p:cNvSpPr/>
          <p:nvPr/>
        </p:nvSpPr>
        <p:spPr>
          <a:xfrm>
            <a:off x="3476327" y="9010650"/>
            <a:ext cx="9268495" cy="419100"/>
          </a:xfrm>
          <a:prstGeom prst="rect">
            <a:avLst/>
          </a:prstGeom>
          <a:noFill/>
          <a:ln/>
        </p:spPr>
        <p:txBody>
          <a:bodyPr wrap="square" lIns="25400" tIns="25400" rIns="25400" bIns="25400" rtlCol="0" anchor="t">
            <a:normAutofit/>
          </a:bodyPr>
          <a:lstStyle/>
          <a:p>
            <a:pPr marL="0" indent="0" algn="l">
              <a:buNone/>
            </a:pPr>
            <a:r>
              <a:rPr lang="en-US" sz="2550" dirty="0">
                <a:solidFill>
                  <a:srgbClr val="1A1714"/>
                </a:solidFill>
                <a:latin typeface="Georgia" pitchFamily="34" charset="0"/>
                <a:ea typeface="Georgia" pitchFamily="34" charset="-122"/>
                <a:cs typeface="Georgia" pitchFamily="34" charset="-120"/>
              </a:rPr>
              <a:t>For new nano-IoT deployments, prefer SIMON over Speck.</a:t>
            </a:r>
            <a:endParaRPr lang="en-US" sz="2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871326"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08 — THE EVIDENCE</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2000250"/>
            <a:ext cx="8867730" cy="552450"/>
          </a:xfrm>
          <a:prstGeom prst="rect">
            <a:avLst/>
          </a:prstGeom>
          <a:noFill/>
          <a:ln/>
        </p:spPr>
        <p:txBody>
          <a:bodyPr wrap="square" lIns="25400" tIns="25400" rIns="25400" bIns="25400" rtlCol="0" anchor="t">
            <a:normAutofit/>
          </a:bodyPr>
          <a:lstStyle/>
          <a:p>
            <a:pPr marL="0" indent="0" algn="l">
              <a:lnSpc>
                <a:spcPct val="104000"/>
              </a:lnSpc>
              <a:buNone/>
            </a:pPr>
            <a:r>
              <a:rPr lang="en-US" sz="3900" b="1" kern="0" spc="-78" dirty="0">
                <a:solidFill>
                  <a:srgbClr val="1A1714"/>
                </a:solidFill>
                <a:latin typeface="Georgia" pitchFamily="34" charset="0"/>
                <a:ea typeface="Georgia" pitchFamily="34" charset="-122"/>
                <a:cs typeface="Georgia" pitchFamily="34" charset="-120"/>
              </a:rPr>
              <a:t>All ten Speck variants, all broken</a:t>
            </a:r>
            <a:endParaRPr lang="en-US" sz="3900" dirty="0"/>
          </a:p>
        </p:txBody>
      </p:sp>
      <p:sp>
        <p:nvSpPr>
          <p:cNvPr id="6" name="Text 4"/>
          <p:cNvSpPr/>
          <p:nvPr/>
        </p:nvSpPr>
        <p:spPr>
          <a:xfrm>
            <a:off x="13129184" y="1600200"/>
            <a:ext cx="4015816" cy="952500"/>
          </a:xfrm>
          <a:prstGeom prst="rect">
            <a:avLst/>
          </a:prstGeom>
          <a:noFill/>
          <a:ln/>
        </p:spPr>
        <p:txBody>
          <a:bodyPr wrap="square" lIns="25400" tIns="25400" rIns="25400" bIns="25400" rtlCol="0" anchor="t">
            <a:normAutofit/>
          </a:bodyPr>
          <a:lstStyle/>
          <a:p>
            <a:pPr marL="0" indent="0" algn="r">
              <a:lnSpc>
                <a:spcPct val="140000"/>
              </a:lnSpc>
              <a:buNone/>
            </a:pPr>
            <a:r>
              <a:rPr lang="en-US" sz="1725" dirty="0">
                <a:solidFill>
                  <a:srgbClr val="6A625A"/>
                </a:solidFill>
                <a:latin typeface="Arial" pitchFamily="34" charset="0"/>
                <a:ea typeface="Arial" pitchFamily="34" charset="-122"/>
                <a:cs typeface="Arial" pitchFamily="34" charset="-120"/>
              </a:rPr>
              <a:t>F8 carry-leak signal across all ten standardized Speck sizes, at full rounds.</a:t>
            </a:r>
            <a:endParaRPr lang="en-US" sz="1725"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686050"/>
            <a:ext cx="16002000" cy="6705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020684"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09 — THE LAW</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676400"/>
            <a:ext cx="17602200" cy="666750"/>
          </a:xfrm>
          <a:prstGeom prst="rect">
            <a:avLst/>
          </a:prstGeom>
          <a:noFill/>
          <a:ln/>
        </p:spPr>
        <p:txBody>
          <a:bodyPr wrap="square" lIns="25400" tIns="25400" rIns="25400" bIns="25400" rtlCol="0" anchor="t">
            <a:normAutofit/>
          </a:bodyPr>
          <a:lstStyle/>
          <a:p>
            <a:pPr marL="0" indent="0" algn="l">
              <a:lnSpc>
                <a:spcPct val="104000"/>
              </a:lnSpc>
              <a:buNone/>
            </a:pPr>
            <a:r>
              <a:rPr lang="en-US" sz="4800" kern="0" spc="-58" dirty="0">
                <a:solidFill>
                  <a:srgbClr val="1A1714"/>
                </a:solidFill>
                <a:latin typeface="Georgia" pitchFamily="34" charset="0"/>
                <a:ea typeface="Georgia" pitchFamily="34" charset="-122"/>
                <a:cs typeface="Georgia" pitchFamily="34" charset="-120"/>
              </a:rPr>
              <a:t>The leak obeys an exact law</a:t>
            </a:r>
            <a:endParaRPr lang="en-US" sz="4800" dirty="0"/>
          </a:p>
        </p:txBody>
      </p:sp>
      <p:sp>
        <p:nvSpPr>
          <p:cNvPr id="6" name="Text 4"/>
          <p:cNvSpPr/>
          <p:nvPr/>
        </p:nvSpPr>
        <p:spPr>
          <a:xfrm>
            <a:off x="1143000" y="2438400"/>
            <a:ext cx="10312325" cy="781050"/>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6A625A"/>
                </a:solidFill>
                <a:latin typeface="Arial" pitchFamily="34" charset="0"/>
                <a:ea typeface="Arial" pitchFamily="34" charset="-122"/>
                <a:cs typeface="Arial" pitchFamily="34" charset="-120"/>
              </a:rPr>
              <a:t>The carry leak doesn’t merely exist — it follows a precise exponential. A fit this clean is the strongest evidence the effect is a real mechanism, not a statistical accident.</a:t>
            </a:r>
            <a:endParaRPr lang="en-US" sz="2025"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3467100"/>
            <a:ext cx="8051006" cy="5953125"/>
          </a:xfrm>
          <a:prstGeom prst="rect">
            <a:avLst/>
          </a:prstGeom>
        </p:spPr>
      </p:pic>
      <p:sp>
        <p:nvSpPr>
          <p:cNvPr id="8" name="Text 5"/>
          <p:cNvSpPr/>
          <p:nvPr/>
        </p:nvSpPr>
        <p:spPr>
          <a:xfrm>
            <a:off x="9860756" y="4491038"/>
            <a:ext cx="8012668" cy="276225"/>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938A7E"/>
                </a:solidFill>
                <a:latin typeface="Arial" pitchFamily="34" charset="0"/>
                <a:ea typeface="Arial" pitchFamily="34" charset="-122"/>
                <a:cs typeface="Arial" pitchFamily="34" charset="-120"/>
              </a:rPr>
              <a:t>THE FITTED LAW</a:t>
            </a:r>
            <a:endParaRPr lang="en-US" sz="1500" dirty="0"/>
          </a:p>
        </p:txBody>
      </p:sp>
      <p:sp>
        <p:nvSpPr>
          <p:cNvPr id="9" name="Text 6"/>
          <p:cNvSpPr/>
          <p:nvPr/>
        </p:nvSpPr>
        <p:spPr>
          <a:xfrm>
            <a:off x="9860756" y="4900613"/>
            <a:ext cx="8012668" cy="609600"/>
          </a:xfrm>
          <a:prstGeom prst="rect">
            <a:avLst/>
          </a:prstGeom>
          <a:noFill/>
          <a:ln/>
        </p:spPr>
        <p:txBody>
          <a:bodyPr wrap="square" lIns="25400" tIns="25400" rIns="25400" bIns="25400" rtlCol="0" anchor="t">
            <a:normAutofit/>
          </a:bodyPr>
          <a:lstStyle/>
          <a:p>
            <a:pPr marL="0" indent="0" algn="l">
              <a:lnSpc>
                <a:spcPct val="100000"/>
              </a:lnSpc>
              <a:buNone/>
            </a:pPr>
            <a:r>
              <a:rPr lang="en-US" sz="4500" dirty="0">
                <a:solidFill>
                  <a:srgbClr val="1A1714"/>
                </a:solidFill>
                <a:latin typeface="Georgia" pitchFamily="34" charset="0"/>
                <a:ea typeface="Georgia" pitchFamily="34" charset="-122"/>
                <a:cs typeface="Georgia" pitchFamily="34" charset="-120"/>
              </a:rPr>
              <a:t>MI(β) = 0.78 e</a:t>
            </a:r>
            <a:r>
              <a:rPr lang="en-US" sz="2550" baseline="30000" dirty="0">
                <a:solidFill>
                  <a:srgbClr val="1A1714"/>
                </a:solidFill>
                <a:latin typeface="Georgia" pitchFamily="34" charset="0"/>
                <a:ea typeface="Georgia" pitchFamily="34" charset="-122"/>
                <a:cs typeface="Georgia" pitchFamily="34" charset="-120"/>
              </a:rPr>
              <a:t>−1.42β</a:t>
            </a:r>
            <a:endParaRPr lang="en-US" sz="4500" dirty="0"/>
          </a:p>
        </p:txBody>
      </p:sp>
      <p:sp>
        <p:nvSpPr>
          <p:cNvPr id="10" name="Shape 7"/>
          <p:cNvSpPr/>
          <p:nvPr/>
        </p:nvSpPr>
        <p:spPr>
          <a:xfrm>
            <a:off x="9860756" y="6929438"/>
            <a:ext cx="7284244" cy="9525"/>
          </a:xfrm>
          <a:prstGeom prst="rect">
            <a:avLst/>
          </a:prstGeom>
          <a:solidFill>
            <a:srgbClr val="DCD6CA"/>
          </a:solidFill>
          <a:ln/>
        </p:spPr>
        <p:txBody>
          <a:bodyPr/>
          <a:lstStyle/>
          <a:p>
            <a:endParaRPr lang="de-DE"/>
          </a:p>
        </p:txBody>
      </p:sp>
      <p:sp>
        <p:nvSpPr>
          <p:cNvPr id="11" name="Shape 8"/>
          <p:cNvSpPr/>
          <p:nvPr/>
        </p:nvSpPr>
        <p:spPr>
          <a:xfrm>
            <a:off x="9860756" y="5815013"/>
            <a:ext cx="7284244" cy="9525"/>
          </a:xfrm>
          <a:prstGeom prst="rect">
            <a:avLst/>
          </a:prstGeom>
          <a:solidFill>
            <a:srgbClr val="DCD6CA"/>
          </a:solidFill>
          <a:ln/>
        </p:spPr>
        <p:txBody>
          <a:bodyPr/>
          <a:lstStyle/>
          <a:p>
            <a:endParaRPr lang="de-DE"/>
          </a:p>
        </p:txBody>
      </p:sp>
      <p:sp>
        <p:nvSpPr>
          <p:cNvPr id="12" name="Text 9"/>
          <p:cNvSpPr/>
          <p:nvPr/>
        </p:nvSpPr>
        <p:spPr>
          <a:xfrm>
            <a:off x="9860756" y="6072188"/>
            <a:ext cx="4950946" cy="647700"/>
          </a:xfrm>
          <a:prstGeom prst="rect">
            <a:avLst/>
          </a:prstGeom>
          <a:noFill/>
          <a:ln/>
        </p:spPr>
        <p:txBody>
          <a:bodyPr wrap="square" lIns="25400" tIns="25400" rIns="25400" bIns="25400" rtlCol="0" anchor="t">
            <a:normAutofit/>
          </a:bodyPr>
          <a:lstStyle/>
          <a:p>
            <a:pPr marL="0" indent="0" algn="l">
              <a:lnSpc>
                <a:spcPct val="100000"/>
              </a:lnSpc>
              <a:buNone/>
            </a:pPr>
            <a:r>
              <a:rPr lang="en-US" sz="4800" b="1" dirty="0">
                <a:solidFill>
                  <a:srgbClr val="2E8056"/>
                </a:solidFill>
                <a:latin typeface="Georgia" pitchFamily="34" charset="0"/>
                <a:ea typeface="Georgia" pitchFamily="34" charset="-122"/>
                <a:cs typeface="Georgia" pitchFamily="34" charset="-120"/>
              </a:rPr>
              <a:t>R² = 0.999997</a:t>
            </a:r>
            <a:endParaRPr lang="en-US" sz="4800" dirty="0"/>
          </a:p>
        </p:txBody>
      </p:sp>
      <p:sp>
        <p:nvSpPr>
          <p:cNvPr id="13" name="Text 10"/>
          <p:cNvSpPr/>
          <p:nvPr/>
        </p:nvSpPr>
        <p:spPr>
          <a:xfrm>
            <a:off x="9860756" y="7281863"/>
            <a:ext cx="7502771" cy="1152525"/>
          </a:xfrm>
          <a:prstGeom prst="rect">
            <a:avLst/>
          </a:prstGeom>
          <a:noFill/>
          <a:ln/>
        </p:spPr>
        <p:txBody>
          <a:bodyPr wrap="square" lIns="25400" tIns="25400" rIns="25400" bIns="25400" rtlCol="0" anchor="t">
            <a:normAutofit/>
          </a:bodyPr>
          <a:lstStyle/>
          <a:p>
            <a:pPr marL="0" indent="0" algn="l">
              <a:lnSpc>
                <a:spcPct val="150000"/>
              </a:lnSpc>
              <a:buNone/>
            </a:pPr>
            <a:r>
              <a:rPr lang="en-US" sz="1950" b="1" dirty="0">
                <a:solidFill>
                  <a:srgbClr val="1A1714"/>
                </a:solidFill>
                <a:latin typeface="Arial" pitchFamily="34" charset="0"/>
                <a:ea typeface="Arial" pitchFamily="34" charset="-122"/>
                <a:cs typeface="Arial" pitchFamily="34" charset="-120"/>
              </a:rPr>
              <a:t>β </a:t>
            </a:r>
            <a:r>
              <a:rPr lang="en-US" sz="1950" dirty="0">
                <a:solidFill>
                  <a:srgbClr val="6A625A"/>
                </a:solidFill>
                <a:latin typeface="Arial" pitchFamily="34" charset="0"/>
                <a:ea typeface="Arial" pitchFamily="34" charset="-122"/>
                <a:cs typeface="Arial" pitchFamily="34" charset="-120"/>
              </a:rPr>
              <a:t>counts the bit-rotations between a cipher’s addition and reusing the result. Each one cuts the leak about </a:t>
            </a:r>
            <a:r>
              <a:rPr lang="en-US" sz="1950" b="1" dirty="0">
                <a:solidFill>
                  <a:srgbClr val="1A1714"/>
                </a:solidFill>
                <a:latin typeface="Arial" pitchFamily="34" charset="0"/>
                <a:ea typeface="Arial" pitchFamily="34" charset="-122"/>
                <a:cs typeface="Arial" pitchFamily="34" charset="-120"/>
              </a:rPr>
              <a:t>4×</a:t>
            </a:r>
            <a:r>
              <a:rPr lang="en-US" sz="1950" dirty="0">
                <a:solidFill>
                  <a:srgbClr val="6A625A"/>
                </a:solidFill>
                <a:latin typeface="Arial" pitchFamily="34" charset="0"/>
                <a:ea typeface="Arial" pitchFamily="34" charset="-122"/>
                <a:cs typeface="Arial" pitchFamily="34" charset="-120"/>
              </a:rPr>
              <a:t>. Speck does </a:t>
            </a:r>
            <a:r>
              <a:rPr lang="en-US" sz="1950" b="1" dirty="0">
                <a:solidFill>
                  <a:srgbClr val="BC4226"/>
                </a:solidFill>
                <a:latin typeface="Arial" pitchFamily="34" charset="0"/>
                <a:ea typeface="Arial" pitchFamily="34" charset="-122"/>
                <a:cs typeface="Arial" pitchFamily="34" charset="-120"/>
              </a:rPr>
              <a:t>zero </a:t>
            </a:r>
            <a:r>
              <a:rPr lang="en-US" sz="1950" dirty="0">
                <a:solidFill>
                  <a:srgbClr val="6A625A"/>
                </a:solidFill>
                <a:latin typeface="Arial" pitchFamily="34" charset="0"/>
                <a:ea typeface="Arial" pitchFamily="34" charset="-122"/>
                <a:cs typeface="Arial" pitchFamily="34" charset="-120"/>
              </a:rPr>
              <a:t>— so it leaks the most.</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3228216"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10 — GENERALIZATION</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638300"/>
            <a:ext cx="17602200" cy="647700"/>
          </a:xfrm>
          <a:prstGeom prst="rect">
            <a:avLst/>
          </a:prstGeom>
          <a:noFill/>
          <a:ln/>
        </p:spPr>
        <p:txBody>
          <a:bodyPr wrap="square" lIns="25400" tIns="25400" rIns="25400" bIns="25400" rtlCol="0" anchor="t">
            <a:normAutofit/>
          </a:bodyPr>
          <a:lstStyle/>
          <a:p>
            <a:pPr marL="0" indent="0" algn="l">
              <a:lnSpc>
                <a:spcPct val="104000"/>
              </a:lnSpc>
              <a:buNone/>
            </a:pPr>
            <a:r>
              <a:rPr lang="en-US" sz="4650" kern="0" spc="-56" dirty="0">
                <a:solidFill>
                  <a:srgbClr val="1A1714"/>
                </a:solidFill>
                <a:latin typeface="Georgia" pitchFamily="34" charset="0"/>
                <a:ea typeface="Georgia" pitchFamily="34" charset="-122"/>
                <a:cs typeface="Georgia" pitchFamily="34" charset="-120"/>
              </a:rPr>
              <a:t>Not a Speck quirk — a property of all ARX</a:t>
            </a:r>
            <a:endParaRPr lang="en-US" sz="4650" dirty="0"/>
          </a:p>
        </p:txBody>
      </p:sp>
      <p:sp>
        <p:nvSpPr>
          <p:cNvPr id="6" name="Text 4"/>
          <p:cNvSpPr/>
          <p:nvPr/>
        </p:nvSpPr>
        <p:spPr>
          <a:xfrm>
            <a:off x="1143000" y="2362200"/>
            <a:ext cx="10497809" cy="742950"/>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6A625A"/>
                </a:solidFill>
                <a:latin typeface="Arial" pitchFamily="34" charset="0"/>
                <a:ea typeface="Arial" pitchFamily="34" charset="-122"/>
                <a:cs typeface="Arial" pitchFamily="34" charset="-120"/>
              </a:rPr>
              <a:t>F8 across 13 ARX families: the leak appears exactly where an addition feeds the state before diffusion.</a:t>
            </a:r>
            <a:endParaRPr lang="en-US" sz="19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3257550"/>
            <a:ext cx="16002000" cy="4791075"/>
          </a:xfrm>
          <a:prstGeom prst="rect">
            <a:avLst/>
          </a:prstGeom>
        </p:spPr>
      </p:pic>
      <p:sp>
        <p:nvSpPr>
          <p:cNvPr id="8" name="Shape 5"/>
          <p:cNvSpPr/>
          <p:nvPr/>
        </p:nvSpPr>
        <p:spPr>
          <a:xfrm>
            <a:off x="1143000" y="8201025"/>
            <a:ext cx="16002000" cy="9525"/>
          </a:xfrm>
          <a:prstGeom prst="rect">
            <a:avLst/>
          </a:prstGeom>
          <a:solidFill>
            <a:srgbClr val="DCD6CA"/>
          </a:solidFill>
          <a:ln/>
        </p:spPr>
        <p:txBody>
          <a:bodyPr/>
          <a:lstStyle/>
          <a:p>
            <a:endParaRPr lang="de-DE"/>
          </a:p>
        </p:txBody>
      </p:sp>
      <p:sp>
        <p:nvSpPr>
          <p:cNvPr id="9" name="Text 6"/>
          <p:cNvSpPr/>
          <p:nvPr/>
        </p:nvSpPr>
        <p:spPr>
          <a:xfrm>
            <a:off x="1143000" y="8420100"/>
            <a:ext cx="8522016" cy="1009650"/>
          </a:xfrm>
          <a:prstGeom prst="rect">
            <a:avLst/>
          </a:prstGeom>
          <a:noFill/>
          <a:ln/>
        </p:spPr>
        <p:txBody>
          <a:bodyPr wrap="square" lIns="25400" tIns="25400" rIns="25400" bIns="25400" rtlCol="0" anchor="t">
            <a:normAutofit/>
          </a:bodyPr>
          <a:lstStyle/>
          <a:p>
            <a:pPr marL="0" indent="0" algn="l">
              <a:lnSpc>
                <a:spcPct val="150000"/>
              </a:lnSpc>
              <a:buNone/>
            </a:pPr>
            <a:r>
              <a:rPr lang="en-US" sz="1725" b="1" dirty="0">
                <a:solidFill>
                  <a:srgbClr val="BC4226"/>
                </a:solidFill>
                <a:latin typeface="Arial" pitchFamily="34" charset="0"/>
                <a:ea typeface="Arial" pitchFamily="34" charset="-122"/>
                <a:cs typeface="Arial" pitchFamily="34" charset="-120"/>
              </a:rPr>
              <a:t>Threefish, in context: </a:t>
            </a:r>
            <a:r>
              <a:rPr lang="en-US" sz="1725" dirty="0">
                <a:solidFill>
                  <a:srgbClr val="1A1714"/>
                </a:solidFill>
                <a:latin typeface="Arial" pitchFamily="34" charset="0"/>
                <a:ea typeface="Arial" pitchFamily="34" charset="-122"/>
                <a:cs typeface="Arial" pitchFamily="34" charset="-120"/>
              </a:rPr>
              <a:t>a decade of dedicated cryptanalysis reached at most </a:t>
            </a:r>
            <a:r>
              <a:rPr lang="en-US" sz="1725" b="1" dirty="0">
                <a:solidFill>
                  <a:srgbClr val="1A1714"/>
                </a:solidFill>
                <a:latin typeface="Arial" pitchFamily="34" charset="0"/>
                <a:ea typeface="Arial" pitchFamily="34" charset="-122"/>
                <a:cs typeface="Arial" pitchFamily="34" charset="-120"/>
              </a:rPr>
              <a:t>57 of 72 rounds </a:t>
            </a:r>
            <a:r>
              <a:rPr lang="en-US" sz="1725" dirty="0">
                <a:solidFill>
                  <a:srgbClr val="1A1714"/>
                </a:solidFill>
                <a:latin typeface="Arial" pitchFamily="34" charset="0"/>
                <a:ea typeface="Arial" pitchFamily="34" charset="-122"/>
                <a:cs typeface="Arial" pitchFamily="34" charset="-120"/>
              </a:rPr>
              <a:t>(rotational-rebound, 2010), with chosen inputs. F8 sees structure across </a:t>
            </a:r>
            <a:r>
              <a:rPr lang="en-US" sz="1725" b="1" dirty="0">
                <a:solidFill>
                  <a:srgbClr val="1A1714"/>
                </a:solidFill>
                <a:latin typeface="Arial" pitchFamily="34" charset="0"/>
                <a:ea typeface="Arial" pitchFamily="34" charset="-122"/>
                <a:cs typeface="Arial" pitchFamily="34" charset="-120"/>
              </a:rPr>
              <a:t>all 72 </a:t>
            </a:r>
            <a:r>
              <a:rPr lang="en-US" sz="1725" dirty="0">
                <a:solidFill>
                  <a:srgbClr val="1A1714"/>
                </a:solidFill>
                <a:latin typeface="Arial" pitchFamily="34" charset="0"/>
                <a:ea typeface="Arial" pitchFamily="34" charset="-122"/>
                <a:cs typeface="Arial" pitchFamily="34" charset="-120"/>
              </a:rPr>
              <a:t>— from output alone.</a:t>
            </a:r>
            <a:endParaRPr lang="en-US" sz="1725" dirty="0"/>
          </a:p>
        </p:txBody>
      </p:sp>
      <p:sp>
        <p:nvSpPr>
          <p:cNvPr id="10" name="Text 7"/>
          <p:cNvSpPr/>
          <p:nvPr/>
        </p:nvSpPr>
        <p:spPr>
          <a:xfrm>
            <a:off x="9950202" y="8420100"/>
            <a:ext cx="7410642" cy="1009650"/>
          </a:xfrm>
          <a:prstGeom prst="rect">
            <a:avLst/>
          </a:prstGeom>
          <a:noFill/>
          <a:ln/>
        </p:spPr>
        <p:txBody>
          <a:bodyPr wrap="square" lIns="25400" tIns="25400" rIns="25400" bIns="25400" rtlCol="0" anchor="t">
            <a:normAutofit/>
          </a:bodyPr>
          <a:lstStyle/>
          <a:p>
            <a:pPr marL="0" indent="0" algn="l">
              <a:lnSpc>
                <a:spcPct val="150000"/>
              </a:lnSpc>
              <a:buNone/>
            </a:pPr>
            <a:r>
              <a:rPr lang="en-US" sz="1725" b="1" dirty="0">
                <a:solidFill>
                  <a:srgbClr val="8E5384"/>
                </a:solidFill>
                <a:latin typeface="Arial" pitchFamily="34" charset="0"/>
                <a:ea typeface="Arial" pitchFamily="34" charset="-122"/>
                <a:cs typeface="Arial" pitchFamily="34" charset="-120"/>
              </a:rPr>
              <a:t>SPARX is the proof: </a:t>
            </a:r>
            <a:r>
              <a:rPr lang="en-US" sz="1725" dirty="0">
                <a:solidFill>
                  <a:srgbClr val="6A625A"/>
                </a:solidFill>
                <a:latin typeface="Arial" pitchFamily="34" charset="0"/>
                <a:ea typeface="Arial" pitchFamily="34" charset="-122"/>
                <a:cs typeface="Arial" pitchFamily="34" charset="-120"/>
              </a:rPr>
              <a:t>its ARX core leaks +5,500 — add one diffusion layer and the full cipher drops to </a:t>
            </a:r>
            <a:r>
              <a:rPr lang="en-US" sz="1725" b="1" dirty="0">
                <a:solidFill>
                  <a:srgbClr val="2C6CA6"/>
                </a:solidFill>
                <a:latin typeface="Arial" pitchFamily="34" charset="0"/>
                <a:ea typeface="Arial" pitchFamily="34" charset="-122"/>
                <a:cs typeface="Arial" pitchFamily="34" charset="-120"/>
              </a:rPr>
              <a:t>immune</a:t>
            </a:r>
            <a:r>
              <a:rPr lang="en-US" sz="1725" dirty="0">
                <a:solidFill>
                  <a:srgbClr val="6A625A"/>
                </a:solidFill>
                <a:latin typeface="Arial" pitchFamily="34" charset="0"/>
                <a:ea typeface="Arial" pitchFamily="34" charset="-122"/>
                <a:cs typeface="Arial" pitchFamily="34" charset="-120"/>
              </a:rPr>
              <a:t>. The rule predicts </a:t>
            </a:r>
            <a:r>
              <a:rPr lang="en-US" sz="1725" b="1" dirty="0">
                <a:solidFill>
                  <a:srgbClr val="1A1714"/>
                </a:solidFill>
                <a:latin typeface="Arial" pitchFamily="34" charset="0"/>
                <a:ea typeface="Arial" pitchFamily="34" charset="-122"/>
                <a:cs typeface="Arial" pitchFamily="34" charset="-120"/>
              </a:rPr>
              <a:t>9 of 9 </a:t>
            </a:r>
            <a:r>
              <a:rPr lang="en-US" sz="1725" dirty="0">
                <a:solidFill>
                  <a:srgbClr val="6A625A"/>
                </a:solidFill>
                <a:latin typeface="Arial" pitchFamily="34" charset="0"/>
                <a:ea typeface="Arial" pitchFamily="34" charset="-122"/>
                <a:cs typeface="Arial" pitchFamily="34" charset="-120"/>
              </a:rPr>
              <a:t>ciphers.</a:t>
            </a:r>
            <a:endParaRPr lang="en-US" sz="17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3276183"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11 — A BONUS FINDING</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2000250"/>
            <a:ext cx="8077661" cy="552450"/>
          </a:xfrm>
          <a:prstGeom prst="rect">
            <a:avLst/>
          </a:prstGeom>
          <a:noFill/>
          <a:ln/>
        </p:spPr>
        <p:txBody>
          <a:bodyPr wrap="square" lIns="25400" tIns="25400" rIns="25400" bIns="25400" rtlCol="0" anchor="t">
            <a:normAutofit/>
          </a:bodyPr>
          <a:lstStyle/>
          <a:p>
            <a:pPr marL="0" indent="0" algn="l">
              <a:lnSpc>
                <a:spcPct val="104000"/>
              </a:lnSpc>
              <a:buNone/>
            </a:pPr>
            <a:r>
              <a:rPr lang="en-US" sz="3900" b="1" kern="0" spc="-78" dirty="0">
                <a:solidFill>
                  <a:srgbClr val="1A1714"/>
                </a:solidFill>
                <a:latin typeface="Georgia" pitchFamily="34" charset="0"/>
                <a:ea typeface="Georgia" pitchFamily="34" charset="-122"/>
                <a:cs typeface="Georgia" pitchFamily="34" charset="-120"/>
              </a:rPr>
              <a:t>Four bugs it caught on its own</a:t>
            </a:r>
            <a:endParaRPr lang="en-US" sz="3900" dirty="0"/>
          </a:p>
        </p:txBody>
      </p:sp>
      <p:sp>
        <p:nvSpPr>
          <p:cNvPr id="6" name="Text 4"/>
          <p:cNvSpPr/>
          <p:nvPr/>
        </p:nvSpPr>
        <p:spPr>
          <a:xfrm>
            <a:off x="12878244" y="1600200"/>
            <a:ext cx="4266756" cy="952500"/>
          </a:xfrm>
          <a:prstGeom prst="rect">
            <a:avLst/>
          </a:prstGeom>
          <a:noFill/>
          <a:ln/>
        </p:spPr>
        <p:txBody>
          <a:bodyPr wrap="square" lIns="25400" tIns="25400" rIns="25400" bIns="25400" rtlCol="0" anchor="t">
            <a:normAutofit/>
          </a:bodyPr>
          <a:lstStyle/>
          <a:p>
            <a:pPr marL="0" indent="0" algn="r">
              <a:lnSpc>
                <a:spcPct val="140000"/>
              </a:lnSpc>
              <a:buNone/>
            </a:pPr>
            <a:r>
              <a:rPr lang="en-US" sz="1725" dirty="0">
                <a:solidFill>
                  <a:srgbClr val="6A625A"/>
                </a:solidFill>
                <a:latin typeface="Arial" pitchFamily="34" charset="0"/>
                <a:ea typeface="Arial" pitchFamily="34" charset="-122"/>
                <a:cs typeface="Arial" pitchFamily="34" charset="-120"/>
              </a:rPr>
              <a:t>Anomalous CASI flagged real implementation faults — output only, no source.</a:t>
            </a:r>
            <a:endParaRPr lang="en-US" sz="1725"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686050"/>
            <a:ext cx="7743825" cy="6705600"/>
          </a:xfrm>
          <a:prstGeom prst="rect">
            <a:avLst/>
          </a:prstGeom>
        </p:spPr>
      </p:pic>
      <p:sp>
        <p:nvSpPr>
          <p:cNvPr id="8" name="Shape 5"/>
          <p:cNvSpPr/>
          <p:nvPr/>
        </p:nvSpPr>
        <p:spPr>
          <a:xfrm>
            <a:off x="9401175" y="5429250"/>
            <a:ext cx="7743825" cy="9525"/>
          </a:xfrm>
          <a:prstGeom prst="rect">
            <a:avLst/>
          </a:prstGeom>
          <a:solidFill>
            <a:srgbClr val="DCD6CA"/>
          </a:solidFill>
          <a:ln/>
        </p:spPr>
        <p:txBody>
          <a:bodyPr/>
          <a:lstStyle/>
          <a:p>
            <a:endParaRPr lang="de-DE"/>
          </a:p>
        </p:txBody>
      </p:sp>
      <p:sp>
        <p:nvSpPr>
          <p:cNvPr id="9" name="Text 6"/>
          <p:cNvSpPr/>
          <p:nvPr/>
        </p:nvSpPr>
        <p:spPr>
          <a:xfrm>
            <a:off x="9401175" y="4438650"/>
            <a:ext cx="1679511" cy="352425"/>
          </a:xfrm>
          <a:prstGeom prst="rect">
            <a:avLst/>
          </a:prstGeom>
          <a:noFill/>
          <a:ln/>
        </p:spPr>
        <p:txBody>
          <a:bodyPr wrap="square" lIns="25400" tIns="25400" rIns="25400" bIns="25400" rtlCol="0" anchor="t">
            <a:normAutofit/>
          </a:bodyPr>
          <a:lstStyle/>
          <a:p>
            <a:pPr marL="0" indent="0" algn="l">
              <a:buNone/>
            </a:pPr>
            <a:r>
              <a:rPr lang="en-US" sz="2100" b="1" dirty="0">
                <a:solidFill>
                  <a:srgbClr val="1A1714"/>
                </a:solidFill>
                <a:latin typeface="Arial" pitchFamily="34" charset="0"/>
                <a:ea typeface="Arial" pitchFamily="34" charset="-122"/>
                <a:cs typeface="Arial" pitchFamily="34" charset="-120"/>
              </a:rPr>
              <a:t>SKINNY-128</a:t>
            </a:r>
            <a:endParaRPr lang="en-US" sz="2100" dirty="0"/>
          </a:p>
        </p:txBody>
      </p:sp>
      <p:sp>
        <p:nvSpPr>
          <p:cNvPr id="10" name="Text 7"/>
          <p:cNvSpPr/>
          <p:nvPr/>
        </p:nvSpPr>
        <p:spPr>
          <a:xfrm>
            <a:off x="16016585" y="4495800"/>
            <a:ext cx="1204615" cy="285750"/>
          </a:xfrm>
          <a:prstGeom prst="rect">
            <a:avLst/>
          </a:prstGeom>
          <a:noFill/>
          <a:ln/>
        </p:spPr>
        <p:txBody>
          <a:bodyPr wrap="square" lIns="25400" tIns="25400" rIns="25400" bIns="25400" rtlCol="0" anchor="t">
            <a:normAutofit/>
          </a:bodyPr>
          <a:lstStyle/>
          <a:p>
            <a:pPr marL="0" indent="0" algn="l">
              <a:buNone/>
            </a:pPr>
            <a:r>
              <a:rPr lang="en-US" sz="1650" dirty="0">
                <a:solidFill>
                  <a:srgbClr val="8E5384"/>
                </a:solidFill>
                <a:latin typeface="Arial" pitchFamily="34" charset="0"/>
                <a:ea typeface="Arial" pitchFamily="34" charset="-122"/>
                <a:cs typeface="Arial" pitchFamily="34" charset="-120"/>
              </a:rPr>
              <a:t>CASI ≈ 16.6</a:t>
            </a:r>
            <a:endParaRPr lang="en-US" sz="1650" dirty="0"/>
          </a:p>
        </p:txBody>
      </p:sp>
      <p:sp>
        <p:nvSpPr>
          <p:cNvPr id="11" name="Text 8"/>
          <p:cNvSpPr/>
          <p:nvPr/>
        </p:nvSpPr>
        <p:spPr>
          <a:xfrm>
            <a:off x="9401175" y="4867275"/>
            <a:ext cx="8518208" cy="352425"/>
          </a:xfrm>
          <a:prstGeom prst="rect">
            <a:avLst/>
          </a:prstGeom>
          <a:noFill/>
          <a:ln/>
        </p:spPr>
        <p:txBody>
          <a:bodyPr wrap="square" lIns="25400" tIns="25400" rIns="25400" bIns="25400" rtlCol="0" anchor="t">
            <a:normAutofit/>
          </a:bodyPr>
          <a:lstStyle/>
          <a:p>
            <a:pPr marL="0" indent="0" algn="l">
              <a:lnSpc>
                <a:spcPct val="160000"/>
              </a:lnSpc>
              <a:buNone/>
            </a:pPr>
            <a:r>
              <a:rPr lang="en-US" sz="1575" dirty="0">
                <a:solidFill>
                  <a:srgbClr val="6A625A"/>
                </a:solidFill>
                <a:latin typeface="Arial" pitchFamily="34" charset="0"/>
                <a:ea typeface="Arial" pitchFamily="34" charset="-122"/>
                <a:cs typeface="Arial" pitchFamily="34" charset="-120"/>
              </a:rPr>
              <a:t>3 S-box bit-errors · column-major state · missing TK2/TK3 LFSR</a:t>
            </a:r>
            <a:endParaRPr lang="en-US" sz="1575" dirty="0"/>
          </a:p>
        </p:txBody>
      </p:sp>
      <p:sp>
        <p:nvSpPr>
          <p:cNvPr id="12" name="Shape 9"/>
          <p:cNvSpPr/>
          <p:nvPr/>
        </p:nvSpPr>
        <p:spPr>
          <a:xfrm>
            <a:off x="9401175" y="6677025"/>
            <a:ext cx="7743825" cy="9525"/>
          </a:xfrm>
          <a:prstGeom prst="rect">
            <a:avLst/>
          </a:prstGeom>
          <a:solidFill>
            <a:srgbClr val="DCD6CA"/>
          </a:solidFill>
          <a:ln/>
        </p:spPr>
        <p:txBody>
          <a:bodyPr/>
          <a:lstStyle/>
          <a:p>
            <a:endParaRPr lang="de-DE"/>
          </a:p>
        </p:txBody>
      </p:sp>
      <p:sp>
        <p:nvSpPr>
          <p:cNvPr id="13" name="Text 10"/>
          <p:cNvSpPr/>
          <p:nvPr/>
        </p:nvSpPr>
        <p:spPr>
          <a:xfrm>
            <a:off x="9401175" y="5686425"/>
            <a:ext cx="1407259" cy="352425"/>
          </a:xfrm>
          <a:prstGeom prst="rect">
            <a:avLst/>
          </a:prstGeom>
          <a:noFill/>
          <a:ln/>
        </p:spPr>
        <p:txBody>
          <a:bodyPr wrap="square" lIns="25400" tIns="25400" rIns="25400" bIns="25400" rtlCol="0" anchor="t">
            <a:normAutofit/>
          </a:bodyPr>
          <a:lstStyle/>
          <a:p>
            <a:pPr marL="0" indent="0" algn="l">
              <a:buNone/>
            </a:pPr>
            <a:r>
              <a:rPr lang="en-US" sz="2100" b="1" dirty="0">
                <a:solidFill>
                  <a:srgbClr val="1A1714"/>
                </a:solidFill>
                <a:latin typeface="Arial" pitchFamily="34" charset="0"/>
                <a:ea typeface="Arial" pitchFamily="34" charset="-122"/>
                <a:cs typeface="Arial" pitchFamily="34" charset="-120"/>
              </a:rPr>
              <a:t>KATAN-64</a:t>
            </a:r>
            <a:endParaRPr lang="en-US" sz="2100" dirty="0"/>
          </a:p>
        </p:txBody>
      </p:sp>
      <p:sp>
        <p:nvSpPr>
          <p:cNvPr id="14" name="Text 11"/>
          <p:cNvSpPr/>
          <p:nvPr/>
        </p:nvSpPr>
        <p:spPr>
          <a:xfrm>
            <a:off x="15900053" y="5743575"/>
            <a:ext cx="1369442" cy="285750"/>
          </a:xfrm>
          <a:prstGeom prst="rect">
            <a:avLst/>
          </a:prstGeom>
          <a:noFill/>
          <a:ln/>
        </p:spPr>
        <p:txBody>
          <a:bodyPr wrap="square" lIns="25400" tIns="25400" rIns="25400" bIns="25400" rtlCol="0" anchor="t">
            <a:normAutofit/>
          </a:bodyPr>
          <a:lstStyle/>
          <a:p>
            <a:pPr marL="0" indent="0" algn="l">
              <a:buNone/>
            </a:pPr>
            <a:r>
              <a:rPr lang="en-US" sz="1650" dirty="0">
                <a:solidFill>
                  <a:srgbClr val="8E5384"/>
                </a:solidFill>
                <a:latin typeface="Arial" pitchFamily="34" charset="0"/>
                <a:ea typeface="Arial" pitchFamily="34" charset="-122"/>
                <a:cs typeface="Arial" pitchFamily="34" charset="-120"/>
              </a:rPr>
              <a:t>CASI ≈ 4,380</a:t>
            </a:r>
            <a:endParaRPr lang="en-US" sz="1650" dirty="0"/>
          </a:p>
        </p:txBody>
      </p:sp>
      <p:sp>
        <p:nvSpPr>
          <p:cNvPr id="15" name="Text 12"/>
          <p:cNvSpPr/>
          <p:nvPr/>
        </p:nvSpPr>
        <p:spPr>
          <a:xfrm>
            <a:off x="9401175" y="6115050"/>
            <a:ext cx="8518208" cy="352425"/>
          </a:xfrm>
          <a:prstGeom prst="rect">
            <a:avLst/>
          </a:prstGeom>
          <a:noFill/>
          <a:ln/>
        </p:spPr>
        <p:txBody>
          <a:bodyPr wrap="square" lIns="25400" tIns="25400" rIns="25400" bIns="25400" rtlCol="0" anchor="t">
            <a:normAutofit/>
          </a:bodyPr>
          <a:lstStyle/>
          <a:p>
            <a:pPr marL="0" indent="0" algn="l">
              <a:lnSpc>
                <a:spcPct val="160000"/>
              </a:lnSpc>
              <a:buNone/>
            </a:pPr>
            <a:r>
              <a:rPr lang="en-US" sz="1575" dirty="0">
                <a:solidFill>
                  <a:srgbClr val="6A625A"/>
                </a:solidFill>
                <a:latin typeface="Arial" pitchFamily="34" charset="0"/>
                <a:ea typeface="Arial" pitchFamily="34" charset="-122"/>
                <a:cs typeface="Arial" pitchFamily="34" charset="-120"/>
              </a:rPr>
              <a:t>L2 mask 37 ≠ 39 bits · 1 sub-step ≠ 3/round · tap bit 6 ≠ 9</a:t>
            </a:r>
            <a:endParaRPr lang="en-US" sz="1575" dirty="0"/>
          </a:p>
        </p:txBody>
      </p:sp>
      <p:sp>
        <p:nvSpPr>
          <p:cNvPr id="16" name="Text 13"/>
          <p:cNvSpPr/>
          <p:nvPr/>
        </p:nvSpPr>
        <p:spPr>
          <a:xfrm>
            <a:off x="9401175" y="6934200"/>
            <a:ext cx="7976140" cy="742950"/>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1A1714"/>
                </a:solidFill>
                <a:latin typeface="Arial" pitchFamily="34" charset="0"/>
                <a:ea typeface="Arial" pitchFamily="34" charset="-122"/>
                <a:cs typeface="Arial" pitchFamily="34" charset="-120"/>
              </a:rPr>
              <a:t>Found from </a:t>
            </a:r>
            <a:r>
              <a:rPr lang="en-US" sz="2025" b="1" dirty="0">
                <a:solidFill>
                  <a:srgbClr val="1A1714"/>
                </a:solidFill>
                <a:latin typeface="Arial" pitchFamily="34" charset="0"/>
                <a:ea typeface="Arial" pitchFamily="34" charset="-122"/>
                <a:cs typeface="Arial" pitchFamily="34" charset="-120"/>
              </a:rPr>
              <a:t>output alone </a:t>
            </a:r>
            <a:r>
              <a:rPr lang="en-US" sz="2025" dirty="0">
                <a:solidFill>
                  <a:srgbClr val="1A1714"/>
                </a:solidFill>
                <a:latin typeface="Arial" pitchFamily="34" charset="0"/>
                <a:ea typeface="Arial" pitchFamily="34" charset="-122"/>
                <a:cs typeface="Arial" pitchFamily="34" charset="-120"/>
              </a:rPr>
              <a:t>— no source access. CASI doubles as an autonomous correctness check.</a:t>
            </a:r>
            <a:endParaRPr lang="en-US" sz="20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3002950"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12 — WHAT IT MEANS</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771650"/>
            <a:ext cx="17602200" cy="762000"/>
          </a:xfrm>
          <a:prstGeom prst="rect">
            <a:avLst/>
          </a:prstGeom>
          <a:noFill/>
          <a:ln/>
        </p:spPr>
        <p:txBody>
          <a:bodyPr wrap="square" lIns="25400" tIns="25400" rIns="25400" bIns="25400" rtlCol="0" anchor="t">
            <a:normAutofit/>
          </a:bodyPr>
          <a:lstStyle/>
          <a:p>
            <a:pPr marL="0" indent="0" algn="l">
              <a:lnSpc>
                <a:spcPct val="104000"/>
              </a:lnSpc>
              <a:buNone/>
            </a:pPr>
            <a:r>
              <a:rPr lang="en-US" sz="5550" kern="0" spc="-67" dirty="0">
                <a:solidFill>
                  <a:srgbClr val="1A1714"/>
                </a:solidFill>
                <a:latin typeface="Georgia" pitchFamily="34" charset="0"/>
                <a:ea typeface="Georgia" pitchFamily="34" charset="-122"/>
                <a:cs typeface="Georgia" pitchFamily="34" charset="-120"/>
              </a:rPr>
              <a:t>A quality check for the crypto in every nano-chip</a:t>
            </a:r>
            <a:endParaRPr lang="en-US" sz="5550" dirty="0"/>
          </a:p>
        </p:txBody>
      </p:sp>
      <p:sp>
        <p:nvSpPr>
          <p:cNvPr id="6" name="Text 4"/>
          <p:cNvSpPr/>
          <p:nvPr/>
        </p:nvSpPr>
        <p:spPr>
          <a:xfrm>
            <a:off x="1143000" y="2647950"/>
            <a:ext cx="10312325" cy="781050"/>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6A625A"/>
                </a:solidFill>
                <a:latin typeface="Arial" pitchFamily="34" charset="0"/>
                <a:ea typeface="Arial" pitchFamily="34" charset="-122"/>
                <a:cs typeface="Arial" pitchFamily="34" charset="-120"/>
              </a:rPr>
              <a:t>Until now there was no way to check a fabricated chip’s encryption. This is that missing tool — and it needs nothing but the chip’s own output.</a:t>
            </a:r>
            <a:endParaRPr lang="en-US" sz="2025" dirty="0"/>
          </a:p>
        </p:txBody>
      </p:sp>
      <p:sp>
        <p:nvSpPr>
          <p:cNvPr id="7" name="Shape 5"/>
          <p:cNvSpPr/>
          <p:nvPr/>
        </p:nvSpPr>
        <p:spPr>
          <a:xfrm>
            <a:off x="6467475" y="3905250"/>
            <a:ext cx="9525" cy="4391025"/>
          </a:xfrm>
          <a:prstGeom prst="rect">
            <a:avLst/>
          </a:prstGeom>
          <a:solidFill>
            <a:srgbClr val="DCD6CA"/>
          </a:solidFill>
          <a:ln/>
        </p:spPr>
        <p:txBody>
          <a:bodyPr/>
          <a:lstStyle/>
          <a:p>
            <a:endParaRPr lang="de-DE"/>
          </a:p>
        </p:txBody>
      </p:sp>
      <p:sp>
        <p:nvSpPr>
          <p:cNvPr id="8" name="Text 6"/>
          <p:cNvSpPr/>
          <p:nvPr/>
        </p:nvSpPr>
        <p:spPr>
          <a:xfrm>
            <a:off x="1143000" y="3905250"/>
            <a:ext cx="5395912"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dirty="0">
                <a:solidFill>
                  <a:srgbClr val="2C6CA6"/>
                </a:solidFill>
                <a:latin typeface="Georgia" pitchFamily="34" charset="0"/>
                <a:ea typeface="Georgia" pitchFamily="34" charset="-122"/>
                <a:cs typeface="Georgia" pitchFamily="34" charset="-120"/>
              </a:rPr>
              <a:t>1</a:t>
            </a:r>
            <a:endParaRPr lang="en-US" sz="6000" dirty="0"/>
          </a:p>
        </p:txBody>
      </p:sp>
      <p:sp>
        <p:nvSpPr>
          <p:cNvPr id="9" name="Text 7"/>
          <p:cNvSpPr/>
          <p:nvPr/>
        </p:nvSpPr>
        <p:spPr>
          <a:xfrm>
            <a:off x="1143000" y="4895850"/>
            <a:ext cx="5395912" cy="400050"/>
          </a:xfrm>
          <a:prstGeom prst="rect">
            <a:avLst/>
          </a:prstGeom>
          <a:noFill/>
          <a:ln/>
        </p:spPr>
        <p:txBody>
          <a:bodyPr wrap="square" lIns="25400" tIns="25400" rIns="25400" bIns="25400" rtlCol="0" anchor="t">
            <a:normAutofit/>
          </a:bodyPr>
          <a:lstStyle/>
          <a:p>
            <a:pPr marL="0" indent="0" algn="l">
              <a:lnSpc>
                <a:spcPct val="120000"/>
              </a:lnSpc>
              <a:buNone/>
            </a:pPr>
            <a:r>
              <a:rPr lang="en-US" sz="2400" b="1" dirty="0">
                <a:solidFill>
                  <a:srgbClr val="1A1714"/>
                </a:solidFill>
                <a:latin typeface="Arial" pitchFamily="34" charset="0"/>
                <a:ea typeface="Arial" pitchFamily="34" charset="-122"/>
                <a:cs typeface="Arial" pitchFamily="34" charset="-120"/>
              </a:rPr>
              <a:t>Test after fabrication</a:t>
            </a:r>
            <a:endParaRPr lang="en-US" sz="2400" dirty="0"/>
          </a:p>
        </p:txBody>
      </p:sp>
      <p:sp>
        <p:nvSpPr>
          <p:cNvPr id="10" name="Text 8"/>
          <p:cNvSpPr/>
          <p:nvPr/>
        </p:nvSpPr>
        <p:spPr>
          <a:xfrm>
            <a:off x="1143000" y="5429250"/>
            <a:ext cx="5052536" cy="106680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A625A"/>
                </a:solidFill>
                <a:latin typeface="Arial" pitchFamily="34" charset="0"/>
                <a:ea typeface="Arial" pitchFamily="34" charset="-122"/>
                <a:cs typeface="Arial" pitchFamily="34" charset="-120"/>
              </a:rPr>
              <a:t>On a sealed chip, from the scrambled data it sends out. </a:t>
            </a:r>
            <a:r>
              <a:rPr lang="en-US" sz="1800" dirty="0">
                <a:solidFill>
                  <a:srgbClr val="1A1714"/>
                </a:solidFill>
                <a:latin typeface="Arial" pitchFamily="34" charset="0"/>
                <a:ea typeface="Arial" pitchFamily="34" charset="-122"/>
                <a:cs typeface="Arial" pitchFamily="34" charset="-120"/>
              </a:rPr>
              <a:t>No probes, no source, no keys </a:t>
            </a:r>
            <a:r>
              <a:rPr lang="en-US" sz="1800" dirty="0">
                <a:solidFill>
                  <a:srgbClr val="6A625A"/>
                </a:solidFill>
                <a:latin typeface="Arial" pitchFamily="34" charset="0"/>
                <a:ea typeface="Arial" pitchFamily="34" charset="-122"/>
                <a:cs typeface="Arial" pitchFamily="34" charset="-120"/>
              </a:rPr>
              <a:t>— works where nothing else can reach.</a:t>
            </a:r>
            <a:endParaRPr lang="en-US" sz="1800" dirty="0"/>
          </a:p>
        </p:txBody>
      </p:sp>
      <p:sp>
        <p:nvSpPr>
          <p:cNvPr id="11" name="Shape 9"/>
          <p:cNvSpPr/>
          <p:nvPr/>
        </p:nvSpPr>
        <p:spPr>
          <a:xfrm>
            <a:off x="11801475" y="3905250"/>
            <a:ext cx="9525" cy="4391025"/>
          </a:xfrm>
          <a:prstGeom prst="rect">
            <a:avLst/>
          </a:prstGeom>
          <a:solidFill>
            <a:srgbClr val="DCD6CA"/>
          </a:solidFill>
          <a:ln/>
        </p:spPr>
        <p:txBody>
          <a:bodyPr/>
          <a:lstStyle/>
          <a:p>
            <a:endParaRPr lang="de-DE"/>
          </a:p>
        </p:txBody>
      </p:sp>
      <p:sp>
        <p:nvSpPr>
          <p:cNvPr id="12" name="Text 10"/>
          <p:cNvSpPr/>
          <p:nvPr/>
        </p:nvSpPr>
        <p:spPr>
          <a:xfrm>
            <a:off x="6896100" y="3905250"/>
            <a:ext cx="4934903"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dirty="0">
                <a:solidFill>
                  <a:srgbClr val="2C6CA6"/>
                </a:solidFill>
                <a:latin typeface="Georgia" pitchFamily="34" charset="0"/>
                <a:ea typeface="Georgia" pitchFamily="34" charset="-122"/>
                <a:cs typeface="Georgia" pitchFamily="34" charset="-120"/>
              </a:rPr>
              <a:t>2</a:t>
            </a:r>
            <a:endParaRPr lang="en-US" sz="6000" dirty="0"/>
          </a:p>
        </p:txBody>
      </p:sp>
      <p:sp>
        <p:nvSpPr>
          <p:cNvPr id="13" name="Text 11"/>
          <p:cNvSpPr/>
          <p:nvPr/>
        </p:nvSpPr>
        <p:spPr>
          <a:xfrm>
            <a:off x="6896100" y="4895850"/>
            <a:ext cx="4934903" cy="400050"/>
          </a:xfrm>
          <a:prstGeom prst="rect">
            <a:avLst/>
          </a:prstGeom>
          <a:noFill/>
          <a:ln/>
        </p:spPr>
        <p:txBody>
          <a:bodyPr wrap="square" lIns="25400" tIns="25400" rIns="25400" bIns="25400" rtlCol="0" anchor="t">
            <a:normAutofit/>
          </a:bodyPr>
          <a:lstStyle/>
          <a:p>
            <a:pPr marL="0" indent="0" algn="l">
              <a:lnSpc>
                <a:spcPct val="120000"/>
              </a:lnSpc>
              <a:buNone/>
            </a:pPr>
            <a:r>
              <a:rPr lang="en-US" sz="2400" b="1" dirty="0">
                <a:solidFill>
                  <a:srgbClr val="1A1714"/>
                </a:solidFill>
                <a:latin typeface="Arial" pitchFamily="34" charset="0"/>
                <a:ea typeface="Arial" pitchFamily="34" charset="-122"/>
                <a:cs typeface="Arial" pitchFamily="34" charset="-120"/>
              </a:rPr>
              <a:t>One number, any cipher</a:t>
            </a:r>
            <a:endParaRPr lang="en-US" sz="2400" dirty="0"/>
          </a:p>
        </p:txBody>
      </p:sp>
      <p:sp>
        <p:nvSpPr>
          <p:cNvPr id="14" name="Text 12"/>
          <p:cNvSpPr/>
          <p:nvPr/>
        </p:nvSpPr>
        <p:spPr>
          <a:xfrm>
            <a:off x="6896100" y="5429250"/>
            <a:ext cx="4620863" cy="106680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A625A"/>
                </a:solidFill>
                <a:latin typeface="Arial" pitchFamily="34" charset="0"/>
                <a:ea typeface="Arial" pitchFamily="34" charset="-122"/>
                <a:cs typeface="Arial" pitchFamily="34" charset="-120"/>
              </a:rPr>
              <a:t>The same check for Speck, ASCON, anything. </a:t>
            </a:r>
            <a:r>
              <a:rPr lang="en-US" sz="1800" dirty="0">
                <a:solidFill>
                  <a:srgbClr val="1A1714"/>
                </a:solidFill>
                <a:latin typeface="Arial" pitchFamily="34" charset="0"/>
                <a:ea typeface="Arial" pitchFamily="34" charset="-122"/>
                <a:cs typeface="Arial" pitchFamily="34" charset="-120"/>
              </a:rPr>
              <a:t>Above 2 → investigate, below 2 → good. </a:t>
            </a:r>
            <a:r>
              <a:rPr lang="en-US" sz="1800" dirty="0">
                <a:solidFill>
                  <a:srgbClr val="6A625A"/>
                </a:solidFill>
                <a:latin typeface="Arial" pitchFamily="34" charset="0"/>
                <a:ea typeface="Arial" pitchFamily="34" charset="-122"/>
                <a:cs typeface="Arial" pitchFamily="34" charset="-120"/>
              </a:rPr>
              <a:t>Simple enough for a production line.</a:t>
            </a:r>
            <a:endParaRPr lang="en-US" sz="1800" dirty="0"/>
          </a:p>
        </p:txBody>
      </p:sp>
      <p:sp>
        <p:nvSpPr>
          <p:cNvPr id="15" name="Text 13"/>
          <p:cNvSpPr/>
          <p:nvPr/>
        </p:nvSpPr>
        <p:spPr>
          <a:xfrm>
            <a:off x="12230100" y="3905250"/>
            <a:ext cx="5406390"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dirty="0">
                <a:solidFill>
                  <a:srgbClr val="BC4226"/>
                </a:solidFill>
                <a:latin typeface="Georgia" pitchFamily="34" charset="0"/>
                <a:ea typeface="Georgia" pitchFamily="34" charset="-122"/>
                <a:cs typeface="Georgia" pitchFamily="34" charset="-120"/>
              </a:rPr>
              <a:t>3</a:t>
            </a:r>
            <a:endParaRPr lang="en-US" sz="6000" dirty="0"/>
          </a:p>
        </p:txBody>
      </p:sp>
      <p:sp>
        <p:nvSpPr>
          <p:cNvPr id="16" name="Text 14"/>
          <p:cNvSpPr/>
          <p:nvPr/>
        </p:nvSpPr>
        <p:spPr>
          <a:xfrm>
            <a:off x="12230100" y="4895850"/>
            <a:ext cx="5406390" cy="400050"/>
          </a:xfrm>
          <a:prstGeom prst="rect">
            <a:avLst/>
          </a:prstGeom>
          <a:noFill/>
          <a:ln/>
        </p:spPr>
        <p:txBody>
          <a:bodyPr wrap="square" lIns="25400" tIns="25400" rIns="25400" bIns="25400" rtlCol="0" anchor="t">
            <a:normAutofit/>
          </a:bodyPr>
          <a:lstStyle/>
          <a:p>
            <a:pPr marL="0" indent="0" algn="l">
              <a:lnSpc>
                <a:spcPct val="120000"/>
              </a:lnSpc>
              <a:buNone/>
            </a:pPr>
            <a:r>
              <a:rPr lang="en-US" sz="2400" b="1" dirty="0">
                <a:solidFill>
                  <a:srgbClr val="1A1714"/>
                </a:solidFill>
                <a:latin typeface="Arial" pitchFamily="34" charset="0"/>
                <a:ea typeface="Arial" pitchFamily="34" charset="-122"/>
                <a:cs typeface="Arial" pitchFamily="34" charset="-120"/>
              </a:rPr>
              <a:t>Catches real defects</a:t>
            </a:r>
            <a:endParaRPr lang="en-US" sz="2400" dirty="0"/>
          </a:p>
        </p:txBody>
      </p:sp>
      <p:sp>
        <p:nvSpPr>
          <p:cNvPr id="17" name="Text 15"/>
          <p:cNvSpPr/>
          <p:nvPr/>
        </p:nvSpPr>
        <p:spPr>
          <a:xfrm>
            <a:off x="12230100" y="5429250"/>
            <a:ext cx="5062347" cy="106680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6A625A"/>
                </a:solidFill>
                <a:latin typeface="Arial" pitchFamily="34" charset="0"/>
                <a:ea typeface="Arial" pitchFamily="34" charset="-122"/>
                <a:cs typeface="Arial" pitchFamily="34" charset="-120"/>
              </a:rPr>
              <a:t>It found </a:t>
            </a:r>
            <a:r>
              <a:rPr lang="en-US" sz="1800" dirty="0">
                <a:solidFill>
                  <a:srgbClr val="1A1714"/>
                </a:solidFill>
                <a:latin typeface="Arial" pitchFamily="34" charset="0"/>
                <a:ea typeface="Arial" pitchFamily="34" charset="-122"/>
                <a:cs typeface="Arial" pitchFamily="34" charset="-120"/>
              </a:rPr>
              <a:t>4 manufacturing bugs </a:t>
            </a:r>
            <a:r>
              <a:rPr lang="en-US" sz="1800" dirty="0">
                <a:solidFill>
                  <a:srgbClr val="6A625A"/>
                </a:solidFill>
                <a:latin typeface="Arial" pitchFamily="34" charset="0"/>
                <a:ea typeface="Arial" pitchFamily="34" charset="-122"/>
                <a:cs typeface="Arial" pitchFamily="34" charset="-120"/>
              </a:rPr>
              <a:t>on its own — and flagged a standardized cipher, </a:t>
            </a:r>
            <a:r>
              <a:rPr lang="en-US" sz="1800" dirty="0">
                <a:solidFill>
                  <a:srgbClr val="BC4226"/>
                </a:solidFill>
                <a:latin typeface="Arial" pitchFamily="34" charset="0"/>
                <a:ea typeface="Arial" pitchFamily="34" charset="-122"/>
                <a:cs typeface="Arial" pitchFamily="34" charset="-120"/>
              </a:rPr>
              <a:t>Speck </a:t>
            </a:r>
            <a:r>
              <a:rPr lang="en-US" sz="1800" dirty="0">
                <a:solidFill>
                  <a:srgbClr val="6A625A"/>
                </a:solidFill>
                <a:latin typeface="Arial" pitchFamily="34" charset="0"/>
                <a:ea typeface="Arial" pitchFamily="34" charset="-122"/>
                <a:cs typeface="Arial" pitchFamily="34" charset="-120"/>
              </a:rPr>
              <a:t>, you should not ship.</a:t>
            </a:r>
            <a:endParaRPr lang="en-US" sz="1800" dirty="0"/>
          </a:p>
        </p:txBody>
      </p:sp>
      <p:sp>
        <p:nvSpPr>
          <p:cNvPr id="18" name="Shape 16"/>
          <p:cNvSpPr/>
          <p:nvPr/>
        </p:nvSpPr>
        <p:spPr>
          <a:xfrm>
            <a:off x="1143000" y="8753475"/>
            <a:ext cx="16002000" cy="9525"/>
          </a:xfrm>
          <a:prstGeom prst="rect">
            <a:avLst/>
          </a:prstGeom>
          <a:solidFill>
            <a:srgbClr val="DCD6CA"/>
          </a:solidFill>
          <a:ln/>
        </p:spPr>
        <p:txBody>
          <a:bodyPr/>
          <a:lstStyle/>
          <a:p>
            <a:endParaRPr lang="de-DE"/>
          </a:p>
        </p:txBody>
      </p:sp>
      <p:sp>
        <p:nvSpPr>
          <p:cNvPr id="19" name="Text 17"/>
          <p:cNvSpPr/>
          <p:nvPr/>
        </p:nvSpPr>
        <p:spPr>
          <a:xfrm>
            <a:off x="1143000" y="9029700"/>
            <a:ext cx="8029039" cy="400050"/>
          </a:xfrm>
          <a:prstGeom prst="rect">
            <a:avLst/>
          </a:prstGeom>
          <a:noFill/>
          <a:ln/>
        </p:spPr>
        <p:txBody>
          <a:bodyPr wrap="square" lIns="25400" tIns="25400" rIns="25400" bIns="25400" rtlCol="0" anchor="t">
            <a:normAutofit/>
          </a:bodyPr>
          <a:lstStyle/>
          <a:p>
            <a:pPr marL="0" indent="0" algn="l">
              <a:buNone/>
            </a:pPr>
            <a:r>
              <a:rPr lang="en-US" sz="2400" dirty="0">
                <a:solidFill>
                  <a:srgbClr val="1A1714"/>
                </a:solidFill>
                <a:latin typeface="Georgia" pitchFamily="34" charset="0"/>
                <a:ea typeface="Georgia" pitchFamily="34" charset="-122"/>
                <a:cs typeface="Georgia" pitchFamily="34" charset="-120"/>
              </a:rPr>
              <a:t>And it all runs on one </a:t>
            </a:r>
            <a:r>
              <a:rPr lang="en-US" sz="2400" b="1" dirty="0">
                <a:solidFill>
                  <a:srgbClr val="1A1714"/>
                </a:solidFill>
                <a:latin typeface="Georgia" pitchFamily="34" charset="0"/>
                <a:ea typeface="Georgia" pitchFamily="34" charset="-122"/>
                <a:cs typeface="Georgia" pitchFamily="34" charset="-120"/>
              </a:rPr>
              <a:t>Mac mini </a:t>
            </a:r>
            <a:r>
              <a:rPr lang="en-US" sz="2400" dirty="0">
                <a:solidFill>
                  <a:srgbClr val="1A1714"/>
                </a:solidFill>
                <a:latin typeface="Georgia" pitchFamily="34" charset="0"/>
                <a:ea typeface="Georgia" pitchFamily="34" charset="-122"/>
                <a:cs typeface="Georgia" pitchFamily="34" charset="-120"/>
              </a:rPr>
              <a:t>— no GPU, no cloud.</a:t>
            </a:r>
            <a:endParaRPr lang="en-US" sz="2400" dirty="0"/>
          </a:p>
        </p:txBody>
      </p:sp>
      <p:sp>
        <p:nvSpPr>
          <p:cNvPr id="20" name="Text 18"/>
          <p:cNvSpPr/>
          <p:nvPr/>
        </p:nvSpPr>
        <p:spPr>
          <a:xfrm>
            <a:off x="12369552" y="9124950"/>
            <a:ext cx="5252993" cy="285750"/>
          </a:xfrm>
          <a:prstGeom prst="rect">
            <a:avLst/>
          </a:prstGeom>
          <a:noFill/>
          <a:ln/>
        </p:spPr>
        <p:txBody>
          <a:bodyPr wrap="none" lIns="25400" tIns="25400" rIns="25400" bIns="25400" rtlCol="0" anchor="t">
            <a:normAutofit/>
          </a:bodyPr>
          <a:lstStyle/>
          <a:p>
            <a:pPr marL="0" indent="0" algn="l">
              <a:buNone/>
            </a:pPr>
            <a:r>
              <a:rPr lang="en-US" sz="1650" dirty="0">
                <a:solidFill>
                  <a:srgbClr val="6A625A"/>
                </a:solidFill>
                <a:latin typeface="Arial" pitchFamily="34" charset="0"/>
                <a:ea typeface="Arial" pitchFamily="34" charset="-122"/>
                <a:cs typeface="Arial" pitchFamily="34" charset="-120"/>
              </a:rPr>
              <a:t>post-fabrication · architecture-agnostic · output only</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3466907"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13 — HOW IT COMPARES</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714500"/>
            <a:ext cx="17602200" cy="628650"/>
          </a:xfrm>
          <a:prstGeom prst="rect">
            <a:avLst/>
          </a:prstGeom>
          <a:noFill/>
          <a:ln/>
        </p:spPr>
        <p:txBody>
          <a:bodyPr wrap="square" lIns="25400" tIns="25400" rIns="25400" bIns="25400" rtlCol="0" anchor="t">
            <a:normAutofit/>
          </a:bodyPr>
          <a:lstStyle/>
          <a:p>
            <a:pPr marL="0" indent="0" algn="l">
              <a:lnSpc>
                <a:spcPct val="104000"/>
              </a:lnSpc>
              <a:buNone/>
            </a:pPr>
            <a:r>
              <a:rPr lang="en-US" sz="4500" kern="0" spc="-54" dirty="0">
                <a:solidFill>
                  <a:srgbClr val="1A1714"/>
                </a:solidFill>
                <a:latin typeface="Georgia" pitchFamily="34" charset="0"/>
                <a:ea typeface="Georgia" pitchFamily="34" charset="-122"/>
                <a:cs typeface="Georgia" pitchFamily="34" charset="-120"/>
              </a:rPr>
              <a:t>The only test that does all five</a:t>
            </a:r>
            <a:endParaRPr lang="en-US" sz="4500" dirty="0"/>
          </a:p>
        </p:txBody>
      </p:sp>
      <p:sp>
        <p:nvSpPr>
          <p:cNvPr id="6" name="Shape 4"/>
          <p:cNvSpPr/>
          <p:nvPr/>
        </p:nvSpPr>
        <p:spPr>
          <a:xfrm>
            <a:off x="1143000" y="3879800"/>
            <a:ext cx="5608886" cy="19050"/>
          </a:xfrm>
          <a:prstGeom prst="rect">
            <a:avLst/>
          </a:prstGeom>
          <a:solidFill>
            <a:srgbClr val="1A1714"/>
          </a:solidFill>
          <a:ln/>
        </p:spPr>
        <p:txBody>
          <a:bodyPr/>
          <a:lstStyle/>
          <a:p>
            <a:endParaRPr lang="de-DE"/>
          </a:p>
        </p:txBody>
      </p:sp>
      <p:sp>
        <p:nvSpPr>
          <p:cNvPr id="7" name="Shape 5"/>
          <p:cNvSpPr/>
          <p:nvPr/>
        </p:nvSpPr>
        <p:spPr>
          <a:xfrm>
            <a:off x="6751886" y="3879800"/>
            <a:ext cx="3299371" cy="19050"/>
          </a:xfrm>
          <a:prstGeom prst="rect">
            <a:avLst/>
          </a:prstGeom>
          <a:solidFill>
            <a:srgbClr val="1A1714"/>
          </a:solidFill>
          <a:ln/>
        </p:spPr>
        <p:txBody>
          <a:bodyPr/>
          <a:lstStyle/>
          <a:p>
            <a:endParaRPr lang="de-DE"/>
          </a:p>
        </p:txBody>
      </p:sp>
      <p:sp>
        <p:nvSpPr>
          <p:cNvPr id="8" name="Text 6"/>
          <p:cNvSpPr/>
          <p:nvPr/>
        </p:nvSpPr>
        <p:spPr>
          <a:xfrm>
            <a:off x="6712647" y="2628900"/>
            <a:ext cx="3377848" cy="323850"/>
          </a:xfrm>
          <a:prstGeom prst="rect">
            <a:avLst/>
          </a:prstGeom>
          <a:noFill/>
          <a:ln/>
        </p:spPr>
        <p:txBody>
          <a:bodyPr wrap="square" lIns="25400" tIns="25400" rIns="25400" bIns="25400" rtlCol="0" anchor="t">
            <a:normAutofit/>
          </a:bodyPr>
          <a:lstStyle/>
          <a:p>
            <a:pPr marL="0" indent="0" algn="ctr">
              <a:buNone/>
            </a:pPr>
            <a:r>
              <a:rPr lang="en-US" sz="1875" b="1" dirty="0">
                <a:solidFill>
                  <a:srgbClr val="1A1714"/>
                </a:solidFill>
                <a:latin typeface="Arial" pitchFamily="34" charset="0"/>
                <a:ea typeface="Arial" pitchFamily="34" charset="-122"/>
                <a:cs typeface="Arial" pitchFamily="34" charset="-120"/>
              </a:rPr>
              <a:t>Statistical</a:t>
            </a:r>
            <a:endParaRPr lang="en-US" sz="1875" dirty="0"/>
          </a:p>
        </p:txBody>
      </p:sp>
      <p:sp>
        <p:nvSpPr>
          <p:cNvPr id="9" name="Text 7"/>
          <p:cNvSpPr/>
          <p:nvPr/>
        </p:nvSpPr>
        <p:spPr>
          <a:xfrm>
            <a:off x="6712647" y="2971800"/>
            <a:ext cx="3377848" cy="238125"/>
          </a:xfrm>
          <a:prstGeom prst="rect">
            <a:avLst/>
          </a:prstGeom>
          <a:noFill/>
          <a:ln/>
        </p:spPr>
        <p:txBody>
          <a:bodyPr wrap="square" lIns="25400" tIns="25400" rIns="25400" bIns="25400" rtlCol="0" anchor="t">
            <a:normAutofit/>
          </a:bodyPr>
          <a:lstStyle/>
          <a:p>
            <a:pPr marL="0" indent="0" algn="ctr">
              <a:buNone/>
            </a:pPr>
            <a:r>
              <a:rPr lang="en-US" sz="1275" dirty="0">
                <a:solidFill>
                  <a:srgbClr val="938A7E"/>
                </a:solidFill>
                <a:latin typeface="Arial" pitchFamily="34" charset="0"/>
                <a:ea typeface="Arial" pitchFamily="34" charset="-122"/>
                <a:cs typeface="Arial" pitchFamily="34" charset="-120"/>
              </a:rPr>
              <a:t>NIST STS, TestU01</a:t>
            </a:r>
            <a:endParaRPr lang="en-US" sz="1275" dirty="0"/>
          </a:p>
        </p:txBody>
      </p:sp>
      <p:sp>
        <p:nvSpPr>
          <p:cNvPr id="10" name="Shape 8"/>
          <p:cNvSpPr/>
          <p:nvPr/>
        </p:nvSpPr>
        <p:spPr>
          <a:xfrm>
            <a:off x="10051256" y="3879800"/>
            <a:ext cx="3299371" cy="19050"/>
          </a:xfrm>
          <a:prstGeom prst="rect">
            <a:avLst/>
          </a:prstGeom>
          <a:solidFill>
            <a:srgbClr val="1A1714"/>
          </a:solidFill>
          <a:ln/>
        </p:spPr>
        <p:txBody>
          <a:bodyPr/>
          <a:lstStyle/>
          <a:p>
            <a:endParaRPr lang="de-DE"/>
          </a:p>
        </p:txBody>
      </p:sp>
      <p:sp>
        <p:nvSpPr>
          <p:cNvPr id="11" name="Text 9"/>
          <p:cNvSpPr/>
          <p:nvPr/>
        </p:nvSpPr>
        <p:spPr>
          <a:xfrm>
            <a:off x="10012018" y="2628900"/>
            <a:ext cx="3377848" cy="323850"/>
          </a:xfrm>
          <a:prstGeom prst="rect">
            <a:avLst/>
          </a:prstGeom>
          <a:noFill/>
          <a:ln/>
        </p:spPr>
        <p:txBody>
          <a:bodyPr wrap="square" lIns="25400" tIns="25400" rIns="25400" bIns="25400" rtlCol="0" anchor="t">
            <a:normAutofit/>
          </a:bodyPr>
          <a:lstStyle/>
          <a:p>
            <a:pPr marL="0" indent="0" algn="ctr">
              <a:buNone/>
            </a:pPr>
            <a:r>
              <a:rPr lang="en-US" sz="1875" b="1" dirty="0">
                <a:solidFill>
                  <a:srgbClr val="1A1714"/>
                </a:solidFill>
                <a:latin typeface="Arial" pitchFamily="34" charset="0"/>
                <a:ea typeface="Arial" pitchFamily="34" charset="-122"/>
                <a:cs typeface="Arial" pitchFamily="34" charset="-120"/>
              </a:rPr>
              <a:t>Neural</a:t>
            </a:r>
            <a:endParaRPr lang="en-US" sz="1875" dirty="0"/>
          </a:p>
        </p:txBody>
      </p:sp>
      <p:sp>
        <p:nvSpPr>
          <p:cNvPr id="12" name="Text 10"/>
          <p:cNvSpPr/>
          <p:nvPr/>
        </p:nvSpPr>
        <p:spPr>
          <a:xfrm>
            <a:off x="10012018" y="2971800"/>
            <a:ext cx="3377848" cy="238125"/>
          </a:xfrm>
          <a:prstGeom prst="rect">
            <a:avLst/>
          </a:prstGeom>
          <a:noFill/>
          <a:ln/>
        </p:spPr>
        <p:txBody>
          <a:bodyPr wrap="square" lIns="25400" tIns="25400" rIns="25400" bIns="25400" rtlCol="0" anchor="t">
            <a:normAutofit/>
          </a:bodyPr>
          <a:lstStyle/>
          <a:p>
            <a:pPr marL="0" indent="0" algn="ctr">
              <a:buNone/>
            </a:pPr>
            <a:r>
              <a:rPr lang="en-US" sz="1275" dirty="0">
                <a:solidFill>
                  <a:srgbClr val="938A7E"/>
                </a:solidFill>
                <a:latin typeface="Arial" pitchFamily="34" charset="0"/>
                <a:ea typeface="Arial" pitchFamily="34" charset="-122"/>
                <a:cs typeface="Arial" pitchFamily="34" charset="-120"/>
              </a:rPr>
              <a:t>Gohr · AutoND</a:t>
            </a:r>
            <a:endParaRPr lang="en-US" sz="1275" dirty="0"/>
          </a:p>
        </p:txBody>
      </p:sp>
      <p:sp>
        <p:nvSpPr>
          <p:cNvPr id="13" name="Shape 11"/>
          <p:cNvSpPr/>
          <p:nvPr/>
        </p:nvSpPr>
        <p:spPr>
          <a:xfrm>
            <a:off x="13350627" y="2628900"/>
            <a:ext cx="3794373" cy="1269950"/>
          </a:xfrm>
          <a:prstGeom prst="roundRect">
            <a:avLst>
              <a:gd name="adj" fmla="val 6000"/>
            </a:avLst>
          </a:prstGeom>
          <a:solidFill>
            <a:srgbClr val="DEE8F1"/>
          </a:solidFill>
          <a:ln/>
        </p:spPr>
        <p:txBody>
          <a:bodyPr/>
          <a:lstStyle/>
          <a:p>
            <a:endParaRPr lang="de-DE"/>
          </a:p>
        </p:txBody>
      </p:sp>
      <p:sp>
        <p:nvSpPr>
          <p:cNvPr id="14" name="Shape 12"/>
          <p:cNvSpPr/>
          <p:nvPr/>
        </p:nvSpPr>
        <p:spPr>
          <a:xfrm>
            <a:off x="13350627" y="3879800"/>
            <a:ext cx="3794373" cy="19050"/>
          </a:xfrm>
          <a:prstGeom prst="rect">
            <a:avLst/>
          </a:prstGeom>
          <a:solidFill>
            <a:srgbClr val="2C6CA6"/>
          </a:solidFill>
          <a:ln/>
        </p:spPr>
        <p:txBody>
          <a:bodyPr/>
          <a:lstStyle/>
          <a:p>
            <a:endParaRPr lang="de-DE"/>
          </a:p>
        </p:txBody>
      </p:sp>
      <p:sp>
        <p:nvSpPr>
          <p:cNvPr id="15" name="Text 13"/>
          <p:cNvSpPr/>
          <p:nvPr/>
        </p:nvSpPr>
        <p:spPr>
          <a:xfrm>
            <a:off x="13286638" y="2628900"/>
            <a:ext cx="3922350" cy="323850"/>
          </a:xfrm>
          <a:prstGeom prst="rect">
            <a:avLst/>
          </a:prstGeom>
          <a:noFill/>
          <a:ln/>
        </p:spPr>
        <p:txBody>
          <a:bodyPr wrap="square" lIns="25400" tIns="25400" rIns="25400" bIns="25400" rtlCol="0" anchor="t">
            <a:normAutofit/>
          </a:bodyPr>
          <a:lstStyle/>
          <a:p>
            <a:pPr marL="0" indent="0" algn="ctr">
              <a:buNone/>
            </a:pPr>
            <a:r>
              <a:rPr lang="en-US" sz="1875" b="1" dirty="0">
                <a:solidFill>
                  <a:srgbClr val="2C6CA6"/>
                </a:solidFill>
                <a:latin typeface="Arial" pitchFamily="34" charset="0"/>
                <a:ea typeface="Arial" pitchFamily="34" charset="-122"/>
                <a:cs typeface="Arial" pitchFamily="34" charset="-120"/>
              </a:rPr>
              <a:t>This work</a:t>
            </a:r>
            <a:endParaRPr lang="en-US" sz="1875" dirty="0"/>
          </a:p>
        </p:txBody>
      </p:sp>
      <p:sp>
        <p:nvSpPr>
          <p:cNvPr id="16" name="Text 14"/>
          <p:cNvSpPr/>
          <p:nvPr/>
        </p:nvSpPr>
        <p:spPr>
          <a:xfrm>
            <a:off x="13286638" y="2971800"/>
            <a:ext cx="3922350" cy="238125"/>
          </a:xfrm>
          <a:prstGeom prst="rect">
            <a:avLst/>
          </a:prstGeom>
          <a:noFill/>
          <a:ln/>
        </p:spPr>
        <p:txBody>
          <a:bodyPr wrap="square" lIns="25400" tIns="25400" rIns="25400" bIns="25400" rtlCol="0" anchor="t">
            <a:normAutofit/>
          </a:bodyPr>
          <a:lstStyle/>
          <a:p>
            <a:pPr marL="0" indent="0" algn="ctr">
              <a:buNone/>
            </a:pPr>
            <a:r>
              <a:rPr lang="en-US" sz="1275" dirty="0">
                <a:solidFill>
                  <a:srgbClr val="2C6CA6"/>
                </a:solidFill>
                <a:latin typeface="Arial" pitchFamily="34" charset="0"/>
                <a:ea typeface="Arial" pitchFamily="34" charset="-122"/>
                <a:cs typeface="Arial" pitchFamily="34" charset="-120"/>
              </a:rPr>
              <a:t>compression</a:t>
            </a:r>
            <a:endParaRPr lang="en-US" sz="1275" dirty="0"/>
          </a:p>
        </p:txBody>
      </p:sp>
      <p:sp>
        <p:nvSpPr>
          <p:cNvPr id="17" name="Shape 15"/>
          <p:cNvSpPr/>
          <p:nvPr/>
        </p:nvSpPr>
        <p:spPr>
          <a:xfrm>
            <a:off x="1143000" y="4787801"/>
            <a:ext cx="5608886" cy="9525"/>
          </a:xfrm>
          <a:prstGeom prst="rect">
            <a:avLst/>
          </a:prstGeom>
          <a:solidFill>
            <a:srgbClr val="DCD6CA"/>
          </a:solidFill>
          <a:ln/>
        </p:spPr>
        <p:txBody>
          <a:bodyPr/>
          <a:lstStyle/>
          <a:p>
            <a:endParaRPr lang="de-DE"/>
          </a:p>
        </p:txBody>
      </p:sp>
      <p:sp>
        <p:nvSpPr>
          <p:cNvPr id="18" name="Text 16"/>
          <p:cNvSpPr/>
          <p:nvPr/>
        </p:nvSpPr>
        <p:spPr>
          <a:xfrm>
            <a:off x="1181100" y="3898850"/>
            <a:ext cx="5739052" cy="927050"/>
          </a:xfrm>
          <a:prstGeom prst="rect">
            <a:avLst/>
          </a:prstGeom>
          <a:noFill/>
          <a:ln/>
        </p:spPr>
        <p:txBody>
          <a:bodyPr wrap="square" lIns="25400" tIns="25400" rIns="25400" bIns="25400" rtlCol="0" anchor="ctr">
            <a:normAutofit/>
          </a:bodyPr>
          <a:lstStyle/>
          <a:p>
            <a:pPr marL="0" indent="0" algn="l">
              <a:buNone/>
            </a:pPr>
            <a:r>
              <a:rPr lang="en-US" sz="1800" dirty="0">
                <a:solidFill>
                  <a:srgbClr val="1A1714"/>
                </a:solidFill>
                <a:latin typeface="Arial" pitchFamily="34" charset="0"/>
                <a:ea typeface="Arial" pitchFamily="34" charset="-122"/>
                <a:cs typeface="Arial" pitchFamily="34" charset="-120"/>
              </a:rPr>
              <a:t>Needs only the output</a:t>
            </a:r>
            <a:endParaRPr lang="en-US" sz="1800" dirty="0"/>
          </a:p>
        </p:txBody>
      </p:sp>
      <p:sp>
        <p:nvSpPr>
          <p:cNvPr id="19" name="Shape 17"/>
          <p:cNvSpPr/>
          <p:nvPr/>
        </p:nvSpPr>
        <p:spPr>
          <a:xfrm>
            <a:off x="6751886" y="4787801"/>
            <a:ext cx="3299371" cy="9525"/>
          </a:xfrm>
          <a:prstGeom prst="rect">
            <a:avLst/>
          </a:prstGeom>
          <a:solidFill>
            <a:srgbClr val="DCD6CA"/>
          </a:solidFill>
          <a:ln/>
        </p:spPr>
        <p:txBody>
          <a:bodyPr/>
          <a:lstStyle/>
          <a:p>
            <a:endParaRPr lang="de-DE"/>
          </a:p>
        </p:txBody>
      </p:sp>
      <p:sp>
        <p:nvSpPr>
          <p:cNvPr id="20" name="Text 18"/>
          <p:cNvSpPr/>
          <p:nvPr/>
        </p:nvSpPr>
        <p:spPr>
          <a:xfrm>
            <a:off x="6702395" y="3898850"/>
            <a:ext cx="3398352"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21" name="Shape 19"/>
          <p:cNvSpPr/>
          <p:nvPr/>
        </p:nvSpPr>
        <p:spPr>
          <a:xfrm>
            <a:off x="10051256" y="4787801"/>
            <a:ext cx="3299371" cy="9525"/>
          </a:xfrm>
          <a:prstGeom prst="rect">
            <a:avLst/>
          </a:prstGeom>
          <a:solidFill>
            <a:srgbClr val="DCD6CA"/>
          </a:solidFill>
          <a:ln/>
        </p:spPr>
        <p:txBody>
          <a:bodyPr/>
          <a:lstStyle/>
          <a:p>
            <a:endParaRPr lang="de-DE"/>
          </a:p>
        </p:txBody>
      </p:sp>
      <p:sp>
        <p:nvSpPr>
          <p:cNvPr id="22" name="Text 20"/>
          <p:cNvSpPr/>
          <p:nvPr/>
        </p:nvSpPr>
        <p:spPr>
          <a:xfrm>
            <a:off x="10001766" y="3898850"/>
            <a:ext cx="3398352" cy="927050"/>
          </a:xfrm>
          <a:prstGeom prst="rect">
            <a:avLst/>
          </a:prstGeom>
          <a:noFill/>
          <a:ln/>
        </p:spPr>
        <p:txBody>
          <a:bodyPr wrap="square" lIns="25400" tIns="25400" rIns="25400" bIns="25400" rtlCol="0" anchor="ctr">
            <a:normAutofit/>
          </a:bodyPr>
          <a:lstStyle/>
          <a:p>
            <a:pPr marL="0" indent="0" algn="ctr">
              <a:buNone/>
            </a:pPr>
            <a:r>
              <a:rPr lang="en-US" sz="2100" dirty="0">
                <a:solidFill>
                  <a:srgbClr val="938A7E"/>
                </a:solidFill>
                <a:latin typeface="Arial" pitchFamily="34" charset="0"/>
                <a:ea typeface="Arial" pitchFamily="34" charset="-122"/>
                <a:cs typeface="Arial" pitchFamily="34" charset="-120"/>
              </a:rPr>
              <a:t>✕</a:t>
            </a:r>
            <a:endParaRPr lang="en-US" sz="2100" dirty="0"/>
          </a:p>
        </p:txBody>
      </p:sp>
      <p:sp>
        <p:nvSpPr>
          <p:cNvPr id="23" name="Shape 21"/>
          <p:cNvSpPr/>
          <p:nvPr/>
        </p:nvSpPr>
        <p:spPr>
          <a:xfrm>
            <a:off x="13350627" y="3898850"/>
            <a:ext cx="3794373" cy="898475"/>
          </a:xfrm>
          <a:prstGeom prst="rect">
            <a:avLst/>
          </a:prstGeom>
          <a:solidFill>
            <a:srgbClr val="DEE8F1"/>
          </a:solidFill>
          <a:ln/>
        </p:spPr>
        <p:txBody>
          <a:bodyPr/>
          <a:lstStyle/>
          <a:p>
            <a:endParaRPr lang="de-DE"/>
          </a:p>
        </p:txBody>
      </p:sp>
      <p:sp>
        <p:nvSpPr>
          <p:cNvPr id="24" name="Shape 22"/>
          <p:cNvSpPr/>
          <p:nvPr/>
        </p:nvSpPr>
        <p:spPr>
          <a:xfrm>
            <a:off x="13350627" y="4787801"/>
            <a:ext cx="3794373" cy="9525"/>
          </a:xfrm>
          <a:prstGeom prst="rect">
            <a:avLst/>
          </a:prstGeom>
          <a:solidFill>
            <a:srgbClr val="DCD6CA"/>
          </a:solidFill>
          <a:ln/>
        </p:spPr>
        <p:txBody>
          <a:bodyPr/>
          <a:lstStyle/>
          <a:p>
            <a:endParaRPr lang="de-DE"/>
          </a:p>
        </p:txBody>
      </p:sp>
      <p:sp>
        <p:nvSpPr>
          <p:cNvPr id="25" name="Text 23"/>
          <p:cNvSpPr/>
          <p:nvPr/>
        </p:nvSpPr>
        <p:spPr>
          <a:xfrm>
            <a:off x="13293711" y="3898850"/>
            <a:ext cx="3908204"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26" name="Shape 24"/>
          <p:cNvSpPr/>
          <p:nvPr/>
        </p:nvSpPr>
        <p:spPr>
          <a:xfrm>
            <a:off x="1143000" y="5686276"/>
            <a:ext cx="5608886" cy="9525"/>
          </a:xfrm>
          <a:prstGeom prst="rect">
            <a:avLst/>
          </a:prstGeom>
          <a:solidFill>
            <a:srgbClr val="DCD6CA"/>
          </a:solidFill>
          <a:ln/>
        </p:spPr>
        <p:txBody>
          <a:bodyPr/>
          <a:lstStyle/>
          <a:p>
            <a:endParaRPr lang="de-DE"/>
          </a:p>
        </p:txBody>
      </p:sp>
      <p:sp>
        <p:nvSpPr>
          <p:cNvPr id="27" name="Text 25"/>
          <p:cNvSpPr/>
          <p:nvPr/>
        </p:nvSpPr>
        <p:spPr>
          <a:xfrm>
            <a:off x="1181100" y="4797326"/>
            <a:ext cx="5739052" cy="927050"/>
          </a:xfrm>
          <a:prstGeom prst="rect">
            <a:avLst/>
          </a:prstGeom>
          <a:noFill/>
          <a:ln/>
        </p:spPr>
        <p:txBody>
          <a:bodyPr wrap="square" lIns="25400" tIns="25400" rIns="25400" bIns="25400" rtlCol="0" anchor="ctr">
            <a:normAutofit/>
          </a:bodyPr>
          <a:lstStyle/>
          <a:p>
            <a:pPr marL="0" indent="0" algn="l">
              <a:buNone/>
            </a:pPr>
            <a:r>
              <a:rPr lang="en-US" sz="1800" dirty="0">
                <a:solidFill>
                  <a:srgbClr val="1A1714"/>
                </a:solidFill>
                <a:latin typeface="Arial" pitchFamily="34" charset="0"/>
                <a:ea typeface="Arial" pitchFamily="34" charset="-122"/>
                <a:cs typeface="Arial" pitchFamily="34" charset="-120"/>
              </a:rPr>
              <a:t>No training needed</a:t>
            </a:r>
            <a:endParaRPr lang="en-US" sz="1800" dirty="0"/>
          </a:p>
        </p:txBody>
      </p:sp>
      <p:sp>
        <p:nvSpPr>
          <p:cNvPr id="28" name="Shape 26"/>
          <p:cNvSpPr/>
          <p:nvPr/>
        </p:nvSpPr>
        <p:spPr>
          <a:xfrm>
            <a:off x="6751886" y="5686276"/>
            <a:ext cx="3299371" cy="9525"/>
          </a:xfrm>
          <a:prstGeom prst="rect">
            <a:avLst/>
          </a:prstGeom>
          <a:solidFill>
            <a:srgbClr val="DCD6CA"/>
          </a:solidFill>
          <a:ln/>
        </p:spPr>
        <p:txBody>
          <a:bodyPr/>
          <a:lstStyle/>
          <a:p>
            <a:endParaRPr lang="de-DE"/>
          </a:p>
        </p:txBody>
      </p:sp>
      <p:sp>
        <p:nvSpPr>
          <p:cNvPr id="29" name="Text 27"/>
          <p:cNvSpPr/>
          <p:nvPr/>
        </p:nvSpPr>
        <p:spPr>
          <a:xfrm>
            <a:off x="6702395" y="4797326"/>
            <a:ext cx="3398352"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30" name="Shape 28"/>
          <p:cNvSpPr/>
          <p:nvPr/>
        </p:nvSpPr>
        <p:spPr>
          <a:xfrm>
            <a:off x="10051256" y="5686276"/>
            <a:ext cx="3299371" cy="9525"/>
          </a:xfrm>
          <a:prstGeom prst="rect">
            <a:avLst/>
          </a:prstGeom>
          <a:solidFill>
            <a:srgbClr val="DCD6CA"/>
          </a:solidFill>
          <a:ln/>
        </p:spPr>
        <p:txBody>
          <a:bodyPr/>
          <a:lstStyle/>
          <a:p>
            <a:endParaRPr lang="de-DE"/>
          </a:p>
        </p:txBody>
      </p:sp>
      <p:sp>
        <p:nvSpPr>
          <p:cNvPr id="31" name="Text 29"/>
          <p:cNvSpPr/>
          <p:nvPr/>
        </p:nvSpPr>
        <p:spPr>
          <a:xfrm>
            <a:off x="10001766" y="4797326"/>
            <a:ext cx="3398352" cy="927050"/>
          </a:xfrm>
          <a:prstGeom prst="rect">
            <a:avLst/>
          </a:prstGeom>
          <a:noFill/>
          <a:ln/>
        </p:spPr>
        <p:txBody>
          <a:bodyPr wrap="square" lIns="25400" tIns="25400" rIns="25400" bIns="25400" rtlCol="0" anchor="ctr">
            <a:normAutofit/>
          </a:bodyPr>
          <a:lstStyle/>
          <a:p>
            <a:pPr marL="0" indent="0" algn="ctr">
              <a:buNone/>
            </a:pPr>
            <a:r>
              <a:rPr lang="en-US" sz="2100" dirty="0">
                <a:solidFill>
                  <a:srgbClr val="938A7E"/>
                </a:solidFill>
                <a:latin typeface="Arial" pitchFamily="34" charset="0"/>
                <a:ea typeface="Arial" pitchFamily="34" charset="-122"/>
                <a:cs typeface="Arial" pitchFamily="34" charset="-120"/>
              </a:rPr>
              <a:t>✕</a:t>
            </a:r>
            <a:endParaRPr lang="en-US" sz="2100" dirty="0"/>
          </a:p>
        </p:txBody>
      </p:sp>
      <p:sp>
        <p:nvSpPr>
          <p:cNvPr id="32" name="Shape 30"/>
          <p:cNvSpPr/>
          <p:nvPr/>
        </p:nvSpPr>
        <p:spPr>
          <a:xfrm>
            <a:off x="13350627" y="4797326"/>
            <a:ext cx="3794373" cy="898475"/>
          </a:xfrm>
          <a:prstGeom prst="rect">
            <a:avLst/>
          </a:prstGeom>
          <a:solidFill>
            <a:srgbClr val="DEE8F1"/>
          </a:solidFill>
          <a:ln/>
        </p:spPr>
        <p:txBody>
          <a:bodyPr/>
          <a:lstStyle/>
          <a:p>
            <a:endParaRPr lang="de-DE"/>
          </a:p>
        </p:txBody>
      </p:sp>
      <p:sp>
        <p:nvSpPr>
          <p:cNvPr id="33" name="Shape 31"/>
          <p:cNvSpPr/>
          <p:nvPr/>
        </p:nvSpPr>
        <p:spPr>
          <a:xfrm>
            <a:off x="13350627" y="5686276"/>
            <a:ext cx="3794373" cy="9525"/>
          </a:xfrm>
          <a:prstGeom prst="rect">
            <a:avLst/>
          </a:prstGeom>
          <a:solidFill>
            <a:srgbClr val="DCD6CA"/>
          </a:solidFill>
          <a:ln/>
        </p:spPr>
        <p:txBody>
          <a:bodyPr/>
          <a:lstStyle/>
          <a:p>
            <a:endParaRPr lang="de-DE"/>
          </a:p>
        </p:txBody>
      </p:sp>
      <p:sp>
        <p:nvSpPr>
          <p:cNvPr id="34" name="Text 32"/>
          <p:cNvSpPr/>
          <p:nvPr/>
        </p:nvSpPr>
        <p:spPr>
          <a:xfrm>
            <a:off x="13293711" y="4797326"/>
            <a:ext cx="3908204"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35" name="Shape 33"/>
          <p:cNvSpPr/>
          <p:nvPr/>
        </p:nvSpPr>
        <p:spPr>
          <a:xfrm>
            <a:off x="1143000" y="6584752"/>
            <a:ext cx="5608886" cy="9525"/>
          </a:xfrm>
          <a:prstGeom prst="rect">
            <a:avLst/>
          </a:prstGeom>
          <a:solidFill>
            <a:srgbClr val="DCD6CA"/>
          </a:solidFill>
          <a:ln/>
        </p:spPr>
        <p:txBody>
          <a:bodyPr/>
          <a:lstStyle/>
          <a:p>
            <a:endParaRPr lang="de-DE"/>
          </a:p>
        </p:txBody>
      </p:sp>
      <p:sp>
        <p:nvSpPr>
          <p:cNvPr id="36" name="Text 34"/>
          <p:cNvSpPr/>
          <p:nvPr/>
        </p:nvSpPr>
        <p:spPr>
          <a:xfrm>
            <a:off x="1181100" y="5695801"/>
            <a:ext cx="5739052" cy="927050"/>
          </a:xfrm>
          <a:prstGeom prst="rect">
            <a:avLst/>
          </a:prstGeom>
          <a:noFill/>
          <a:ln/>
        </p:spPr>
        <p:txBody>
          <a:bodyPr wrap="square" lIns="25400" tIns="25400" rIns="25400" bIns="25400" rtlCol="0" anchor="ctr">
            <a:normAutofit/>
          </a:bodyPr>
          <a:lstStyle/>
          <a:p>
            <a:pPr marL="0" indent="0" algn="l">
              <a:buNone/>
            </a:pPr>
            <a:r>
              <a:rPr lang="en-US" sz="1800" dirty="0">
                <a:solidFill>
                  <a:srgbClr val="1A1714"/>
                </a:solidFill>
                <a:latin typeface="Arial" pitchFamily="34" charset="0"/>
                <a:ea typeface="Arial" pitchFamily="34" charset="-122"/>
                <a:cs typeface="Arial" pitchFamily="34" charset="-120"/>
              </a:rPr>
              <a:t>One number, not hundreds</a:t>
            </a:r>
            <a:endParaRPr lang="en-US" sz="1800" dirty="0"/>
          </a:p>
        </p:txBody>
      </p:sp>
      <p:sp>
        <p:nvSpPr>
          <p:cNvPr id="37" name="Shape 35"/>
          <p:cNvSpPr/>
          <p:nvPr/>
        </p:nvSpPr>
        <p:spPr>
          <a:xfrm>
            <a:off x="6751886" y="6584752"/>
            <a:ext cx="3299371" cy="9525"/>
          </a:xfrm>
          <a:prstGeom prst="rect">
            <a:avLst/>
          </a:prstGeom>
          <a:solidFill>
            <a:srgbClr val="DCD6CA"/>
          </a:solidFill>
          <a:ln/>
        </p:spPr>
        <p:txBody>
          <a:bodyPr/>
          <a:lstStyle/>
          <a:p>
            <a:endParaRPr lang="de-DE"/>
          </a:p>
        </p:txBody>
      </p:sp>
      <p:sp>
        <p:nvSpPr>
          <p:cNvPr id="38" name="Text 36"/>
          <p:cNvSpPr/>
          <p:nvPr/>
        </p:nvSpPr>
        <p:spPr>
          <a:xfrm>
            <a:off x="6702395" y="5695801"/>
            <a:ext cx="3398352" cy="927050"/>
          </a:xfrm>
          <a:prstGeom prst="rect">
            <a:avLst/>
          </a:prstGeom>
          <a:noFill/>
          <a:ln/>
        </p:spPr>
        <p:txBody>
          <a:bodyPr wrap="square" lIns="25400" tIns="25400" rIns="25400" bIns="25400" rtlCol="0" anchor="ctr">
            <a:normAutofit/>
          </a:bodyPr>
          <a:lstStyle/>
          <a:p>
            <a:pPr marL="0" indent="0" algn="ctr">
              <a:buNone/>
            </a:pPr>
            <a:r>
              <a:rPr lang="en-US" sz="2100" dirty="0">
                <a:solidFill>
                  <a:srgbClr val="938A7E"/>
                </a:solidFill>
                <a:latin typeface="Arial" pitchFamily="34" charset="0"/>
                <a:ea typeface="Arial" pitchFamily="34" charset="-122"/>
                <a:cs typeface="Arial" pitchFamily="34" charset="-120"/>
              </a:rPr>
              <a:t>✕</a:t>
            </a:r>
            <a:endParaRPr lang="en-US" sz="2100" dirty="0"/>
          </a:p>
        </p:txBody>
      </p:sp>
      <p:sp>
        <p:nvSpPr>
          <p:cNvPr id="39" name="Shape 37"/>
          <p:cNvSpPr/>
          <p:nvPr/>
        </p:nvSpPr>
        <p:spPr>
          <a:xfrm>
            <a:off x="10051256" y="6584752"/>
            <a:ext cx="3299371" cy="9525"/>
          </a:xfrm>
          <a:prstGeom prst="rect">
            <a:avLst/>
          </a:prstGeom>
          <a:solidFill>
            <a:srgbClr val="DCD6CA"/>
          </a:solidFill>
          <a:ln/>
        </p:spPr>
        <p:txBody>
          <a:bodyPr/>
          <a:lstStyle/>
          <a:p>
            <a:endParaRPr lang="de-DE"/>
          </a:p>
        </p:txBody>
      </p:sp>
      <p:sp>
        <p:nvSpPr>
          <p:cNvPr id="40" name="Text 38"/>
          <p:cNvSpPr/>
          <p:nvPr/>
        </p:nvSpPr>
        <p:spPr>
          <a:xfrm>
            <a:off x="10001766" y="5695801"/>
            <a:ext cx="3398352"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41" name="Shape 39"/>
          <p:cNvSpPr/>
          <p:nvPr/>
        </p:nvSpPr>
        <p:spPr>
          <a:xfrm>
            <a:off x="13350627" y="5695801"/>
            <a:ext cx="3794373" cy="898475"/>
          </a:xfrm>
          <a:prstGeom prst="rect">
            <a:avLst/>
          </a:prstGeom>
          <a:solidFill>
            <a:srgbClr val="DEE8F1"/>
          </a:solidFill>
          <a:ln/>
        </p:spPr>
        <p:txBody>
          <a:bodyPr/>
          <a:lstStyle/>
          <a:p>
            <a:endParaRPr lang="de-DE"/>
          </a:p>
        </p:txBody>
      </p:sp>
      <p:sp>
        <p:nvSpPr>
          <p:cNvPr id="42" name="Shape 40"/>
          <p:cNvSpPr/>
          <p:nvPr/>
        </p:nvSpPr>
        <p:spPr>
          <a:xfrm>
            <a:off x="13350627" y="6584752"/>
            <a:ext cx="3794373" cy="9525"/>
          </a:xfrm>
          <a:prstGeom prst="rect">
            <a:avLst/>
          </a:prstGeom>
          <a:solidFill>
            <a:srgbClr val="DCD6CA"/>
          </a:solidFill>
          <a:ln/>
        </p:spPr>
        <p:txBody>
          <a:bodyPr/>
          <a:lstStyle/>
          <a:p>
            <a:endParaRPr lang="de-DE"/>
          </a:p>
        </p:txBody>
      </p:sp>
      <p:sp>
        <p:nvSpPr>
          <p:cNvPr id="43" name="Text 41"/>
          <p:cNvSpPr/>
          <p:nvPr/>
        </p:nvSpPr>
        <p:spPr>
          <a:xfrm>
            <a:off x="13293711" y="5695801"/>
            <a:ext cx="3908204"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44" name="Shape 42"/>
          <p:cNvSpPr/>
          <p:nvPr/>
        </p:nvSpPr>
        <p:spPr>
          <a:xfrm>
            <a:off x="1143000" y="7483227"/>
            <a:ext cx="5608886" cy="9525"/>
          </a:xfrm>
          <a:prstGeom prst="rect">
            <a:avLst/>
          </a:prstGeom>
          <a:solidFill>
            <a:srgbClr val="DCD6CA"/>
          </a:solidFill>
          <a:ln/>
        </p:spPr>
        <p:txBody>
          <a:bodyPr/>
          <a:lstStyle/>
          <a:p>
            <a:endParaRPr lang="de-DE"/>
          </a:p>
        </p:txBody>
      </p:sp>
      <p:sp>
        <p:nvSpPr>
          <p:cNvPr id="45" name="Text 43"/>
          <p:cNvSpPr/>
          <p:nvPr/>
        </p:nvSpPr>
        <p:spPr>
          <a:xfrm>
            <a:off x="1181100" y="6594277"/>
            <a:ext cx="5739052" cy="927050"/>
          </a:xfrm>
          <a:prstGeom prst="rect">
            <a:avLst/>
          </a:prstGeom>
          <a:noFill/>
          <a:ln/>
        </p:spPr>
        <p:txBody>
          <a:bodyPr wrap="square" lIns="25400" tIns="25400" rIns="25400" bIns="25400" rtlCol="0" anchor="ctr">
            <a:normAutofit/>
          </a:bodyPr>
          <a:lstStyle/>
          <a:p>
            <a:pPr marL="0" indent="0" algn="l">
              <a:buNone/>
            </a:pPr>
            <a:r>
              <a:rPr lang="en-US" sz="1800" dirty="0">
                <a:solidFill>
                  <a:srgbClr val="1A1714"/>
                </a:solidFill>
                <a:latin typeface="Arial" pitchFamily="34" charset="0"/>
                <a:ea typeface="Arial" pitchFamily="34" charset="-122"/>
                <a:cs typeface="Arial" pitchFamily="34" charset="-120"/>
              </a:rPr>
              <a:t>Works at full strength</a:t>
            </a:r>
            <a:endParaRPr lang="en-US" sz="1800" dirty="0"/>
          </a:p>
        </p:txBody>
      </p:sp>
      <p:sp>
        <p:nvSpPr>
          <p:cNvPr id="46" name="Shape 44"/>
          <p:cNvSpPr/>
          <p:nvPr/>
        </p:nvSpPr>
        <p:spPr>
          <a:xfrm>
            <a:off x="6751886" y="7483227"/>
            <a:ext cx="3299371" cy="9525"/>
          </a:xfrm>
          <a:prstGeom prst="rect">
            <a:avLst/>
          </a:prstGeom>
          <a:solidFill>
            <a:srgbClr val="DCD6CA"/>
          </a:solidFill>
          <a:ln/>
        </p:spPr>
        <p:txBody>
          <a:bodyPr/>
          <a:lstStyle/>
          <a:p>
            <a:endParaRPr lang="de-DE"/>
          </a:p>
        </p:txBody>
      </p:sp>
      <p:sp>
        <p:nvSpPr>
          <p:cNvPr id="47" name="Text 45"/>
          <p:cNvSpPr/>
          <p:nvPr/>
        </p:nvSpPr>
        <p:spPr>
          <a:xfrm>
            <a:off x="6702395" y="6594277"/>
            <a:ext cx="3398352" cy="927050"/>
          </a:xfrm>
          <a:prstGeom prst="rect">
            <a:avLst/>
          </a:prstGeom>
          <a:noFill/>
          <a:ln/>
        </p:spPr>
        <p:txBody>
          <a:bodyPr wrap="square" lIns="25400" tIns="25400" rIns="25400" bIns="25400" rtlCol="0" anchor="ctr">
            <a:normAutofit/>
          </a:bodyPr>
          <a:lstStyle/>
          <a:p>
            <a:pPr marL="0" indent="0" algn="ctr">
              <a:buNone/>
            </a:pPr>
            <a:r>
              <a:rPr lang="en-US" sz="2100" dirty="0">
                <a:solidFill>
                  <a:srgbClr val="938A7E"/>
                </a:solidFill>
                <a:latin typeface="Arial" pitchFamily="34" charset="0"/>
                <a:ea typeface="Arial" pitchFamily="34" charset="-122"/>
                <a:cs typeface="Arial" pitchFamily="34" charset="-120"/>
              </a:rPr>
              <a:t>✕</a:t>
            </a:r>
            <a:endParaRPr lang="en-US" sz="2100" dirty="0"/>
          </a:p>
        </p:txBody>
      </p:sp>
      <p:sp>
        <p:nvSpPr>
          <p:cNvPr id="48" name="Shape 46"/>
          <p:cNvSpPr/>
          <p:nvPr/>
        </p:nvSpPr>
        <p:spPr>
          <a:xfrm>
            <a:off x="10051256" y="7483227"/>
            <a:ext cx="3299371" cy="9525"/>
          </a:xfrm>
          <a:prstGeom prst="rect">
            <a:avLst/>
          </a:prstGeom>
          <a:solidFill>
            <a:srgbClr val="DCD6CA"/>
          </a:solidFill>
          <a:ln/>
        </p:spPr>
        <p:txBody>
          <a:bodyPr/>
          <a:lstStyle/>
          <a:p>
            <a:endParaRPr lang="de-DE"/>
          </a:p>
        </p:txBody>
      </p:sp>
      <p:sp>
        <p:nvSpPr>
          <p:cNvPr id="49" name="Text 47"/>
          <p:cNvSpPr/>
          <p:nvPr/>
        </p:nvSpPr>
        <p:spPr>
          <a:xfrm>
            <a:off x="10001766" y="6594277"/>
            <a:ext cx="3398352" cy="927050"/>
          </a:xfrm>
          <a:prstGeom prst="rect">
            <a:avLst/>
          </a:prstGeom>
          <a:noFill/>
          <a:ln/>
        </p:spPr>
        <p:txBody>
          <a:bodyPr wrap="square" lIns="25400" tIns="25400" rIns="25400" bIns="25400" rtlCol="0" anchor="ctr">
            <a:normAutofit/>
          </a:bodyPr>
          <a:lstStyle/>
          <a:p>
            <a:pPr marL="0" indent="0" algn="ctr">
              <a:buNone/>
            </a:pPr>
            <a:r>
              <a:rPr lang="en-US" sz="2100" dirty="0">
                <a:solidFill>
                  <a:srgbClr val="938A7E"/>
                </a:solidFill>
                <a:latin typeface="Arial" pitchFamily="34" charset="0"/>
                <a:ea typeface="Arial" pitchFamily="34" charset="-122"/>
                <a:cs typeface="Arial" pitchFamily="34" charset="-120"/>
              </a:rPr>
              <a:t>✕</a:t>
            </a:r>
            <a:endParaRPr lang="en-US" sz="2100" dirty="0"/>
          </a:p>
        </p:txBody>
      </p:sp>
      <p:sp>
        <p:nvSpPr>
          <p:cNvPr id="50" name="Shape 48"/>
          <p:cNvSpPr/>
          <p:nvPr/>
        </p:nvSpPr>
        <p:spPr>
          <a:xfrm>
            <a:off x="13350627" y="6594277"/>
            <a:ext cx="3794373" cy="898475"/>
          </a:xfrm>
          <a:prstGeom prst="rect">
            <a:avLst/>
          </a:prstGeom>
          <a:solidFill>
            <a:srgbClr val="DEE8F1"/>
          </a:solidFill>
          <a:ln/>
        </p:spPr>
        <p:txBody>
          <a:bodyPr/>
          <a:lstStyle/>
          <a:p>
            <a:endParaRPr lang="de-DE"/>
          </a:p>
        </p:txBody>
      </p:sp>
      <p:sp>
        <p:nvSpPr>
          <p:cNvPr id="51" name="Shape 49"/>
          <p:cNvSpPr/>
          <p:nvPr/>
        </p:nvSpPr>
        <p:spPr>
          <a:xfrm>
            <a:off x="13350627" y="7483227"/>
            <a:ext cx="3794373" cy="9525"/>
          </a:xfrm>
          <a:prstGeom prst="rect">
            <a:avLst/>
          </a:prstGeom>
          <a:solidFill>
            <a:srgbClr val="DCD6CA"/>
          </a:solidFill>
          <a:ln/>
        </p:spPr>
        <p:txBody>
          <a:bodyPr/>
          <a:lstStyle/>
          <a:p>
            <a:endParaRPr lang="de-DE"/>
          </a:p>
        </p:txBody>
      </p:sp>
      <p:sp>
        <p:nvSpPr>
          <p:cNvPr id="52" name="Text 50"/>
          <p:cNvSpPr/>
          <p:nvPr/>
        </p:nvSpPr>
        <p:spPr>
          <a:xfrm>
            <a:off x="13293711" y="6594277"/>
            <a:ext cx="3908204"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53" name="Text 51"/>
          <p:cNvSpPr/>
          <p:nvPr/>
        </p:nvSpPr>
        <p:spPr>
          <a:xfrm>
            <a:off x="1181100" y="7568952"/>
            <a:ext cx="5739052" cy="927050"/>
          </a:xfrm>
          <a:prstGeom prst="rect">
            <a:avLst/>
          </a:prstGeom>
          <a:noFill/>
          <a:ln/>
        </p:spPr>
        <p:txBody>
          <a:bodyPr wrap="square" lIns="25400" tIns="25400" rIns="25400" bIns="25400" rtlCol="0" anchor="ctr">
            <a:normAutofit/>
          </a:bodyPr>
          <a:lstStyle/>
          <a:p>
            <a:pPr marL="0" indent="0" algn="l">
              <a:buNone/>
            </a:pPr>
            <a:r>
              <a:rPr lang="en-US" sz="1800" dirty="0">
                <a:solidFill>
                  <a:srgbClr val="1A1714"/>
                </a:solidFill>
                <a:latin typeface="Arial" pitchFamily="34" charset="0"/>
                <a:ea typeface="Arial" pitchFamily="34" charset="-122"/>
                <a:cs typeface="Arial" pitchFamily="34" charset="-120"/>
              </a:rPr>
              <a:t>Finds manufacturing bugs</a:t>
            </a:r>
            <a:endParaRPr lang="en-US" sz="1800" dirty="0"/>
          </a:p>
        </p:txBody>
      </p:sp>
      <p:sp>
        <p:nvSpPr>
          <p:cNvPr id="54" name="Text 52"/>
          <p:cNvSpPr/>
          <p:nvPr/>
        </p:nvSpPr>
        <p:spPr>
          <a:xfrm>
            <a:off x="6702395" y="7568952"/>
            <a:ext cx="3398352" cy="927050"/>
          </a:xfrm>
          <a:prstGeom prst="rect">
            <a:avLst/>
          </a:prstGeom>
          <a:noFill/>
          <a:ln/>
        </p:spPr>
        <p:txBody>
          <a:bodyPr wrap="square" lIns="25400" tIns="25400" rIns="25400" bIns="25400" rtlCol="0" anchor="ctr">
            <a:normAutofit/>
          </a:bodyPr>
          <a:lstStyle/>
          <a:p>
            <a:pPr marL="0" indent="0" algn="ctr">
              <a:buNone/>
            </a:pPr>
            <a:r>
              <a:rPr lang="en-US" sz="2100" dirty="0">
                <a:solidFill>
                  <a:srgbClr val="938A7E"/>
                </a:solidFill>
                <a:latin typeface="Arial" pitchFamily="34" charset="0"/>
                <a:ea typeface="Arial" pitchFamily="34" charset="-122"/>
                <a:cs typeface="Arial" pitchFamily="34" charset="-120"/>
              </a:rPr>
              <a:t>✕</a:t>
            </a:r>
            <a:endParaRPr lang="en-US" sz="2100" dirty="0"/>
          </a:p>
        </p:txBody>
      </p:sp>
      <p:sp>
        <p:nvSpPr>
          <p:cNvPr id="55" name="Text 53"/>
          <p:cNvSpPr/>
          <p:nvPr/>
        </p:nvSpPr>
        <p:spPr>
          <a:xfrm>
            <a:off x="10001766" y="7568952"/>
            <a:ext cx="3398352" cy="927050"/>
          </a:xfrm>
          <a:prstGeom prst="rect">
            <a:avLst/>
          </a:prstGeom>
          <a:noFill/>
          <a:ln/>
        </p:spPr>
        <p:txBody>
          <a:bodyPr wrap="square" lIns="25400" tIns="25400" rIns="25400" bIns="25400" rtlCol="0" anchor="ctr">
            <a:normAutofit/>
          </a:bodyPr>
          <a:lstStyle/>
          <a:p>
            <a:pPr marL="0" indent="0" algn="ctr">
              <a:buNone/>
            </a:pPr>
            <a:r>
              <a:rPr lang="en-US" sz="2100" dirty="0">
                <a:solidFill>
                  <a:srgbClr val="938A7E"/>
                </a:solidFill>
                <a:latin typeface="Arial" pitchFamily="34" charset="0"/>
                <a:ea typeface="Arial" pitchFamily="34" charset="-122"/>
                <a:cs typeface="Arial" pitchFamily="34" charset="-120"/>
              </a:rPr>
              <a:t>✕</a:t>
            </a:r>
            <a:endParaRPr lang="en-US" sz="2100" dirty="0"/>
          </a:p>
        </p:txBody>
      </p:sp>
      <p:sp>
        <p:nvSpPr>
          <p:cNvPr id="56" name="Shape 54"/>
          <p:cNvSpPr/>
          <p:nvPr/>
        </p:nvSpPr>
        <p:spPr>
          <a:xfrm>
            <a:off x="13350627" y="7492752"/>
            <a:ext cx="3794373" cy="965150"/>
          </a:xfrm>
          <a:prstGeom prst="rect">
            <a:avLst/>
          </a:prstGeom>
          <a:solidFill>
            <a:srgbClr val="DEE8F1"/>
          </a:solidFill>
          <a:ln/>
        </p:spPr>
        <p:txBody>
          <a:bodyPr/>
          <a:lstStyle/>
          <a:p>
            <a:endParaRPr lang="de-DE"/>
          </a:p>
        </p:txBody>
      </p:sp>
      <p:sp>
        <p:nvSpPr>
          <p:cNvPr id="57" name="Text 55"/>
          <p:cNvSpPr/>
          <p:nvPr/>
        </p:nvSpPr>
        <p:spPr>
          <a:xfrm>
            <a:off x="13293711" y="7568952"/>
            <a:ext cx="3908204" cy="927050"/>
          </a:xfrm>
          <a:prstGeom prst="rect">
            <a:avLst/>
          </a:prstGeom>
          <a:noFill/>
          <a:ln/>
        </p:spPr>
        <p:txBody>
          <a:bodyPr wrap="square" lIns="25400" tIns="25400" rIns="25400" bIns="25400" rtlCol="0" anchor="ctr">
            <a:normAutofit/>
          </a:bodyPr>
          <a:lstStyle/>
          <a:p>
            <a:pPr marL="0" indent="0" algn="ctr">
              <a:buNone/>
            </a:pPr>
            <a:r>
              <a:rPr lang="en-US" sz="2250" dirty="0">
                <a:solidFill>
                  <a:srgbClr val="2E8056"/>
                </a:solidFill>
                <a:latin typeface="Arial" pitchFamily="34" charset="0"/>
                <a:ea typeface="Arial" pitchFamily="34" charset="-122"/>
                <a:cs typeface="Arial" pitchFamily="34" charset="-120"/>
              </a:rPr>
              <a:t>✓</a:t>
            </a:r>
            <a:endParaRPr lang="en-US" sz="2250" dirty="0"/>
          </a:p>
        </p:txBody>
      </p:sp>
      <p:sp>
        <p:nvSpPr>
          <p:cNvPr id="58" name="Shape 56"/>
          <p:cNvSpPr/>
          <p:nvPr/>
        </p:nvSpPr>
        <p:spPr>
          <a:xfrm>
            <a:off x="1143000" y="8782050"/>
            <a:ext cx="16002000" cy="9525"/>
          </a:xfrm>
          <a:prstGeom prst="rect">
            <a:avLst/>
          </a:prstGeom>
          <a:solidFill>
            <a:srgbClr val="DCD6CA"/>
          </a:solidFill>
          <a:ln/>
        </p:spPr>
        <p:txBody>
          <a:bodyPr/>
          <a:lstStyle/>
          <a:p>
            <a:endParaRPr lang="de-DE"/>
          </a:p>
        </p:txBody>
      </p:sp>
      <p:sp>
        <p:nvSpPr>
          <p:cNvPr id="59" name="Text 57"/>
          <p:cNvSpPr/>
          <p:nvPr/>
        </p:nvSpPr>
        <p:spPr>
          <a:xfrm>
            <a:off x="1143000" y="9077325"/>
            <a:ext cx="11970053" cy="352425"/>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A1714"/>
                </a:solidFill>
                <a:latin typeface="Arial" pitchFamily="34" charset="0"/>
                <a:ea typeface="Arial" pitchFamily="34" charset="-122"/>
                <a:cs typeface="Arial" pitchFamily="34" charset="-120"/>
              </a:rPr>
              <a:t>Reach at full strength: </a:t>
            </a:r>
            <a:r>
              <a:rPr lang="en-US" sz="1800" dirty="0">
                <a:solidFill>
                  <a:srgbClr val="6A625A"/>
                </a:solidFill>
                <a:latin typeface="Arial" pitchFamily="34" charset="0"/>
                <a:ea typeface="Arial" pitchFamily="34" charset="-122"/>
                <a:cs typeface="Arial" pitchFamily="34" charset="-120"/>
              </a:rPr>
              <a:t>best neural work ≈ </a:t>
            </a:r>
            <a:r>
              <a:rPr lang="en-US" sz="1800" b="1" dirty="0">
                <a:solidFill>
                  <a:srgbClr val="1A1714"/>
                </a:solidFill>
                <a:latin typeface="Arial" pitchFamily="34" charset="0"/>
                <a:ea typeface="Arial" pitchFamily="34" charset="-122"/>
                <a:cs typeface="Arial" pitchFamily="34" charset="-120"/>
              </a:rPr>
              <a:t>11 / 22 </a:t>
            </a:r>
            <a:r>
              <a:rPr lang="en-US" sz="1800" dirty="0">
                <a:solidFill>
                  <a:srgbClr val="6A625A"/>
                </a:solidFill>
                <a:latin typeface="Arial" pitchFamily="34" charset="0"/>
                <a:ea typeface="Arial" pitchFamily="34" charset="-122"/>
                <a:cs typeface="Arial" pitchFamily="34" charset="-120"/>
              </a:rPr>
              <a:t>Speck rounds · a decade of effort on Threefish ≈ </a:t>
            </a:r>
            <a:r>
              <a:rPr lang="en-US" sz="1800" b="1" dirty="0">
                <a:solidFill>
                  <a:srgbClr val="1A1714"/>
                </a:solidFill>
                <a:latin typeface="Arial" pitchFamily="34" charset="0"/>
                <a:ea typeface="Arial" pitchFamily="34" charset="-122"/>
                <a:cs typeface="Arial" pitchFamily="34" charset="-120"/>
              </a:rPr>
              <a:t>57 / 72</a:t>
            </a:r>
            <a:r>
              <a:rPr lang="en-US" sz="1800" dirty="0">
                <a:solidFill>
                  <a:srgbClr val="6A625A"/>
                </a:solidFill>
                <a:latin typeface="Arial" pitchFamily="34" charset="0"/>
                <a:ea typeface="Arial" pitchFamily="34" charset="-122"/>
                <a:cs typeface="Arial" pitchFamily="34" charset="-120"/>
              </a:rPr>
              <a:t>.</a:t>
            </a:r>
            <a:endParaRPr lang="en-US" sz="1800" dirty="0"/>
          </a:p>
        </p:txBody>
      </p:sp>
      <p:sp>
        <p:nvSpPr>
          <p:cNvPr id="60" name="Text 58"/>
          <p:cNvSpPr/>
          <p:nvPr/>
        </p:nvSpPr>
        <p:spPr>
          <a:xfrm>
            <a:off x="13067705" y="9039225"/>
            <a:ext cx="4485025" cy="371475"/>
          </a:xfrm>
          <a:prstGeom prst="rect">
            <a:avLst/>
          </a:prstGeom>
          <a:noFill/>
          <a:ln/>
        </p:spPr>
        <p:txBody>
          <a:bodyPr wrap="none" lIns="25400" tIns="25400" rIns="25400" bIns="25400" rtlCol="0" anchor="t">
            <a:normAutofit/>
          </a:bodyPr>
          <a:lstStyle/>
          <a:p>
            <a:pPr marL="0" indent="0" algn="l">
              <a:buNone/>
            </a:pPr>
            <a:r>
              <a:rPr lang="en-US" sz="2250" dirty="0">
                <a:solidFill>
                  <a:srgbClr val="BC4226"/>
                </a:solidFill>
                <a:latin typeface="Georgia" pitchFamily="34" charset="0"/>
                <a:ea typeface="Georgia" pitchFamily="34" charset="-122"/>
                <a:cs typeface="Georgia" pitchFamily="34" charset="-120"/>
              </a:rPr>
              <a:t>This: full strength, on a desktop.</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1143000" y="895350"/>
            <a:ext cx="2705323"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14 — ROBUSTNESS</a:t>
            </a:r>
            <a:endParaRPr lang="en-US" sz="1800" dirty="0"/>
          </a:p>
        </p:txBody>
      </p:sp>
      <p:sp>
        <p:nvSpPr>
          <p:cNvPr id="3" name="Text 1"/>
          <p:cNvSpPr/>
          <p:nvPr/>
        </p:nvSpPr>
        <p:spPr>
          <a:xfrm>
            <a:off x="13682514" y="895350"/>
            <a:ext cx="3808735" cy="31432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A625A"/>
                </a:solidFill>
                <a:latin typeface="Arial" pitchFamily="34" charset="0"/>
                <a:ea typeface="Arial" pitchFamily="34" charset="-122"/>
                <a:cs typeface="Arial" pitchFamily="34" charset="-120"/>
              </a:rPr>
              <a:t>IEEE NANO 2026 · NANJING</a:t>
            </a:r>
            <a:endParaRPr lang="en-US" sz="1800" dirty="0"/>
          </a:p>
        </p:txBody>
      </p:sp>
      <p:sp>
        <p:nvSpPr>
          <p:cNvPr id="4" name="Shape 2"/>
          <p:cNvSpPr/>
          <p:nvPr/>
        </p:nvSpPr>
        <p:spPr>
          <a:xfrm>
            <a:off x="1143000" y="1381125"/>
            <a:ext cx="16002000" cy="9525"/>
          </a:xfrm>
          <a:prstGeom prst="rect">
            <a:avLst/>
          </a:prstGeom>
          <a:solidFill>
            <a:srgbClr val="DCD6CA"/>
          </a:solidFill>
          <a:ln/>
        </p:spPr>
        <p:txBody>
          <a:bodyPr/>
          <a:lstStyle/>
          <a:p>
            <a:endParaRPr lang="de-DE"/>
          </a:p>
        </p:txBody>
      </p:sp>
      <p:sp>
        <p:nvSpPr>
          <p:cNvPr id="5" name="Text 3"/>
          <p:cNvSpPr/>
          <p:nvPr/>
        </p:nvSpPr>
        <p:spPr>
          <a:xfrm>
            <a:off x="1143000" y="1657350"/>
            <a:ext cx="9063692" cy="533400"/>
          </a:xfrm>
          <a:prstGeom prst="rect">
            <a:avLst/>
          </a:prstGeom>
          <a:noFill/>
          <a:ln/>
        </p:spPr>
        <p:txBody>
          <a:bodyPr wrap="square" lIns="25400" tIns="25400" rIns="25400" bIns="25400" rtlCol="0" anchor="t">
            <a:normAutofit/>
          </a:bodyPr>
          <a:lstStyle/>
          <a:p>
            <a:pPr marL="0" indent="0" algn="l">
              <a:lnSpc>
                <a:spcPct val="104000"/>
              </a:lnSpc>
              <a:buNone/>
            </a:pPr>
            <a:r>
              <a:rPr lang="en-US" sz="3750" kern="0" spc="-45" dirty="0">
                <a:solidFill>
                  <a:srgbClr val="1A1714"/>
                </a:solidFill>
                <a:latin typeface="Georgia" pitchFamily="34" charset="0"/>
                <a:ea typeface="Georgia" pitchFamily="34" charset="-122"/>
                <a:cs typeface="Georgia" pitchFamily="34" charset="-120"/>
              </a:rPr>
              <a:t>A noisy, aging chip never trips the alarm</a:t>
            </a:r>
            <a:endParaRPr lang="en-US" sz="3750" dirty="0"/>
          </a:p>
        </p:txBody>
      </p:sp>
      <p:sp>
        <p:nvSpPr>
          <p:cNvPr id="6" name="Text 4"/>
          <p:cNvSpPr/>
          <p:nvPr/>
        </p:nvSpPr>
        <p:spPr>
          <a:xfrm>
            <a:off x="13303785" y="1581150"/>
            <a:ext cx="3841215" cy="609600"/>
          </a:xfrm>
          <a:prstGeom prst="rect">
            <a:avLst/>
          </a:prstGeom>
          <a:noFill/>
          <a:ln/>
        </p:spPr>
        <p:txBody>
          <a:bodyPr wrap="square" lIns="25400" tIns="25400" rIns="25400" bIns="25400" rtlCol="0" anchor="t">
            <a:normAutofit/>
          </a:bodyPr>
          <a:lstStyle/>
          <a:p>
            <a:pPr marL="0" indent="0" algn="r">
              <a:lnSpc>
                <a:spcPct val="140000"/>
              </a:lnSpc>
              <a:buNone/>
            </a:pPr>
            <a:r>
              <a:rPr lang="en-US" sz="1650" dirty="0">
                <a:solidFill>
                  <a:srgbClr val="6A625A"/>
                </a:solidFill>
                <a:latin typeface="Arial" pitchFamily="34" charset="0"/>
                <a:ea typeface="Arial" pitchFamily="34" charset="-122"/>
                <a:cs typeface="Arial" pitchFamily="34" charset="-120"/>
              </a:rPr>
              <a:t>Random bit-flips injected, 0.01–5% of bits.</a:t>
            </a:r>
            <a:endParaRPr lang="en-US" sz="16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2266950"/>
            <a:ext cx="8795593" cy="7124700"/>
          </a:xfrm>
          <a:prstGeom prst="rect">
            <a:avLst/>
          </a:prstGeom>
        </p:spPr>
      </p:pic>
      <p:sp>
        <p:nvSpPr>
          <p:cNvPr id="8" name="Shape 5"/>
          <p:cNvSpPr/>
          <p:nvPr/>
        </p:nvSpPr>
        <p:spPr>
          <a:xfrm>
            <a:off x="10414843" y="2266950"/>
            <a:ext cx="9525" cy="7124700"/>
          </a:xfrm>
          <a:prstGeom prst="rect">
            <a:avLst/>
          </a:prstGeom>
          <a:solidFill>
            <a:srgbClr val="DCD6CA"/>
          </a:solidFill>
          <a:ln/>
        </p:spPr>
        <p:txBody>
          <a:bodyPr/>
          <a:lstStyle/>
          <a:p>
            <a:endParaRPr lang="de-DE"/>
          </a:p>
        </p:txBody>
      </p:sp>
      <p:sp>
        <p:nvSpPr>
          <p:cNvPr id="9" name="Text 6"/>
          <p:cNvSpPr/>
          <p:nvPr/>
        </p:nvSpPr>
        <p:spPr>
          <a:xfrm>
            <a:off x="10862518" y="4457700"/>
            <a:ext cx="6910730" cy="400050"/>
          </a:xfrm>
          <a:prstGeom prst="rect">
            <a:avLst/>
          </a:prstGeom>
          <a:noFill/>
          <a:ln/>
        </p:spPr>
        <p:txBody>
          <a:bodyPr wrap="square" lIns="25400" tIns="25400" rIns="25400" bIns="25400" rtlCol="0" anchor="t">
            <a:normAutofit/>
          </a:bodyPr>
          <a:lstStyle/>
          <a:p>
            <a:pPr marL="0" indent="0" algn="l">
              <a:lnSpc>
                <a:spcPct val="128000"/>
              </a:lnSpc>
              <a:buNone/>
            </a:pPr>
            <a:r>
              <a:rPr lang="en-US" sz="2250" b="1" dirty="0">
                <a:solidFill>
                  <a:srgbClr val="1A1714"/>
                </a:solidFill>
                <a:latin typeface="Arial" pitchFamily="34" charset="0"/>
                <a:ea typeface="Arial" pitchFamily="34" charset="-122"/>
                <a:cs typeface="Arial" pitchFamily="34" charset="-120"/>
              </a:rPr>
              <a:t>Flaws and noise move in </a:t>
            </a:r>
            <a:r>
              <a:rPr lang="en-US" sz="2250" b="1" dirty="0">
                <a:solidFill>
                  <a:srgbClr val="2C6CA6"/>
                </a:solidFill>
                <a:latin typeface="Arial" pitchFamily="34" charset="0"/>
                <a:ea typeface="Arial" pitchFamily="34" charset="-122"/>
                <a:cs typeface="Arial" pitchFamily="34" charset="-120"/>
              </a:rPr>
              <a:t>opposite directions</a:t>
            </a:r>
            <a:r>
              <a:rPr lang="en-US" sz="2250" b="1" dirty="0">
                <a:solidFill>
                  <a:srgbClr val="1A1714"/>
                </a:solidFill>
                <a:latin typeface="Arial" pitchFamily="34" charset="0"/>
                <a:ea typeface="Arial" pitchFamily="34" charset="-122"/>
                <a:cs typeface="Arial" pitchFamily="34" charset="-120"/>
              </a:rPr>
              <a:t>.</a:t>
            </a:r>
            <a:endParaRPr lang="en-US" sz="2250" dirty="0"/>
          </a:p>
        </p:txBody>
      </p:sp>
      <p:sp>
        <p:nvSpPr>
          <p:cNvPr id="10" name="Text 7"/>
          <p:cNvSpPr/>
          <p:nvPr/>
        </p:nvSpPr>
        <p:spPr>
          <a:xfrm>
            <a:off x="10862518" y="5067300"/>
            <a:ext cx="209550" cy="409575"/>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BC4226"/>
                </a:solidFill>
                <a:latin typeface="Arial" pitchFamily="34" charset="0"/>
                <a:ea typeface="Arial" pitchFamily="34" charset="-122"/>
                <a:cs typeface="Arial" pitchFamily="34" charset="-120"/>
              </a:rPr>
              <a:t>↑</a:t>
            </a:r>
            <a:endParaRPr lang="en-US" sz="2100" dirty="0"/>
          </a:p>
        </p:txBody>
      </p:sp>
      <p:sp>
        <p:nvSpPr>
          <p:cNvPr id="11" name="Text 8"/>
          <p:cNvSpPr/>
          <p:nvPr/>
        </p:nvSpPr>
        <p:spPr>
          <a:xfrm>
            <a:off x="11129218" y="5114925"/>
            <a:ext cx="3745870" cy="352425"/>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1A1714"/>
                </a:solidFill>
                <a:latin typeface="Arial" pitchFamily="34" charset="0"/>
                <a:ea typeface="Arial" pitchFamily="34" charset="-122"/>
                <a:cs typeface="Arial" pitchFamily="34" charset="-120"/>
              </a:rPr>
              <a:t>a real defect pushes the score </a:t>
            </a:r>
            <a:r>
              <a:rPr lang="en-US" sz="1800" b="1" dirty="0">
                <a:solidFill>
                  <a:srgbClr val="1A1714"/>
                </a:solidFill>
                <a:latin typeface="Arial" pitchFamily="34" charset="0"/>
                <a:ea typeface="Arial" pitchFamily="34" charset="-122"/>
                <a:cs typeface="Arial" pitchFamily="34" charset="-120"/>
              </a:rPr>
              <a:t>up</a:t>
            </a:r>
            <a:endParaRPr lang="en-US" sz="1800" dirty="0"/>
          </a:p>
        </p:txBody>
      </p:sp>
      <p:sp>
        <p:nvSpPr>
          <p:cNvPr id="12" name="Text 9"/>
          <p:cNvSpPr/>
          <p:nvPr/>
        </p:nvSpPr>
        <p:spPr>
          <a:xfrm>
            <a:off x="10862518" y="5591175"/>
            <a:ext cx="209550" cy="409575"/>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2C6CA6"/>
                </a:solidFill>
                <a:latin typeface="Arial" pitchFamily="34" charset="0"/>
                <a:ea typeface="Arial" pitchFamily="34" charset="-122"/>
                <a:cs typeface="Arial" pitchFamily="34" charset="-120"/>
              </a:rPr>
              <a:t>↓</a:t>
            </a:r>
            <a:endParaRPr lang="en-US" sz="2100" dirty="0"/>
          </a:p>
        </p:txBody>
      </p:sp>
      <p:sp>
        <p:nvSpPr>
          <p:cNvPr id="13" name="Text 10"/>
          <p:cNvSpPr/>
          <p:nvPr/>
        </p:nvSpPr>
        <p:spPr>
          <a:xfrm>
            <a:off x="11129218" y="5638800"/>
            <a:ext cx="4220795" cy="352425"/>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1A1714"/>
                </a:solidFill>
                <a:latin typeface="Arial" pitchFamily="34" charset="0"/>
                <a:ea typeface="Arial" pitchFamily="34" charset="-122"/>
                <a:cs typeface="Arial" pitchFamily="34" charset="-120"/>
              </a:rPr>
              <a:t>noise pushes it </a:t>
            </a:r>
            <a:r>
              <a:rPr lang="en-US" sz="1800" b="1" dirty="0">
                <a:solidFill>
                  <a:srgbClr val="1A1714"/>
                </a:solidFill>
                <a:latin typeface="Arial" pitchFamily="34" charset="0"/>
                <a:ea typeface="Arial" pitchFamily="34" charset="-122"/>
                <a:cs typeface="Arial" pitchFamily="34" charset="-120"/>
              </a:rPr>
              <a:t>down</a:t>
            </a:r>
            <a:r>
              <a:rPr lang="en-US" sz="1800" dirty="0">
                <a:solidFill>
                  <a:srgbClr val="1A1714"/>
                </a:solidFill>
                <a:latin typeface="Arial" pitchFamily="34" charset="0"/>
                <a:ea typeface="Arial" pitchFamily="34" charset="-122"/>
                <a:cs typeface="Arial" pitchFamily="34" charset="-120"/>
              </a:rPr>
              <a:t>, toward random</a:t>
            </a:r>
            <a:endParaRPr lang="en-US" sz="1800" dirty="0"/>
          </a:p>
        </p:txBody>
      </p:sp>
      <p:sp>
        <p:nvSpPr>
          <p:cNvPr id="14" name="Shape 11"/>
          <p:cNvSpPr/>
          <p:nvPr/>
        </p:nvSpPr>
        <p:spPr>
          <a:xfrm>
            <a:off x="10862518" y="6210300"/>
            <a:ext cx="6282482" cy="9525"/>
          </a:xfrm>
          <a:prstGeom prst="rect">
            <a:avLst/>
          </a:prstGeom>
          <a:solidFill>
            <a:srgbClr val="DCD6CA"/>
          </a:solidFill>
          <a:ln/>
        </p:spPr>
        <p:txBody>
          <a:bodyPr/>
          <a:lstStyle/>
          <a:p>
            <a:endParaRPr lang="de-DE"/>
          </a:p>
        </p:txBody>
      </p:sp>
      <p:sp>
        <p:nvSpPr>
          <p:cNvPr id="15" name="Text 12"/>
          <p:cNvSpPr/>
          <p:nvPr/>
        </p:nvSpPr>
        <p:spPr>
          <a:xfrm>
            <a:off x="10862518" y="6429375"/>
            <a:ext cx="6470956" cy="295275"/>
          </a:xfrm>
          <a:prstGeom prst="rect">
            <a:avLst/>
          </a:prstGeom>
          <a:noFill/>
          <a:ln/>
        </p:spPr>
        <p:txBody>
          <a:bodyPr wrap="square" lIns="25400" tIns="25400" rIns="25400" bIns="25400" rtlCol="0" anchor="t">
            <a:normAutofit/>
          </a:bodyPr>
          <a:lstStyle/>
          <a:p>
            <a:pPr marL="0" indent="0" algn="l">
              <a:buNone/>
            </a:pPr>
            <a:r>
              <a:rPr lang="en-US" sz="1650" dirty="0">
                <a:solidFill>
                  <a:srgbClr val="2E8056"/>
                </a:solidFill>
                <a:latin typeface="Arial" pitchFamily="34" charset="0"/>
                <a:ea typeface="Arial" pitchFamily="34" charset="-122"/>
                <a:cs typeface="Arial" pitchFamily="34" charset="-120"/>
              </a:rPr>
              <a:t>⇒ zero false alarms from aging</a:t>
            </a:r>
            <a:endParaRPr lang="en-US" sz="1650" dirty="0"/>
          </a:p>
        </p:txBody>
      </p:sp>
      <p:sp>
        <p:nvSpPr>
          <p:cNvPr id="16" name="Shape 13"/>
          <p:cNvSpPr/>
          <p:nvPr/>
        </p:nvSpPr>
        <p:spPr>
          <a:xfrm>
            <a:off x="10862518" y="7072313"/>
            <a:ext cx="190500" cy="28575"/>
          </a:xfrm>
          <a:prstGeom prst="rect">
            <a:avLst/>
          </a:prstGeom>
          <a:solidFill>
            <a:srgbClr val="1C6647"/>
          </a:solidFill>
          <a:ln/>
        </p:spPr>
        <p:txBody>
          <a:bodyPr/>
          <a:lstStyle/>
          <a:p>
            <a:endParaRPr lang="de-DE"/>
          </a:p>
        </p:txBody>
      </p:sp>
      <p:sp>
        <p:nvSpPr>
          <p:cNvPr id="17" name="Text 14"/>
          <p:cNvSpPr/>
          <p:nvPr/>
        </p:nvSpPr>
        <p:spPr>
          <a:xfrm>
            <a:off x="11129218" y="6972300"/>
            <a:ext cx="719775" cy="257175"/>
          </a:xfrm>
          <a:prstGeom prst="rect">
            <a:avLst/>
          </a:prstGeom>
          <a:noFill/>
          <a:ln/>
        </p:spPr>
        <p:txBody>
          <a:bodyPr wrap="square" lIns="0" tIns="0" rIns="0" bIns="0" rtlCol="0" anchor="t">
            <a:normAutofit/>
          </a:bodyPr>
          <a:lstStyle/>
          <a:p>
            <a:pPr marL="0" indent="0" algn="l">
              <a:buNone/>
            </a:pPr>
            <a:r>
              <a:rPr lang="en-US" sz="1425" dirty="0">
                <a:solidFill>
                  <a:srgbClr val="6A625A"/>
                </a:solidFill>
                <a:latin typeface="Arial" pitchFamily="34" charset="0"/>
                <a:ea typeface="Arial" pitchFamily="34" charset="-122"/>
                <a:cs typeface="Arial" pitchFamily="34" charset="-120"/>
              </a:rPr>
              <a:t>ASCON</a:t>
            </a:r>
            <a:endParaRPr lang="en-US" sz="1425" dirty="0"/>
          </a:p>
        </p:txBody>
      </p:sp>
      <p:sp>
        <p:nvSpPr>
          <p:cNvPr id="18" name="Shape 15"/>
          <p:cNvSpPr/>
          <p:nvPr/>
        </p:nvSpPr>
        <p:spPr>
          <a:xfrm>
            <a:off x="11982450" y="7072313"/>
            <a:ext cx="190500" cy="28575"/>
          </a:xfrm>
          <a:prstGeom prst="rect">
            <a:avLst/>
          </a:prstGeom>
          <a:solidFill>
            <a:srgbClr val="8E5384"/>
          </a:solidFill>
          <a:ln/>
        </p:spPr>
        <p:txBody>
          <a:bodyPr/>
          <a:lstStyle/>
          <a:p>
            <a:endParaRPr lang="de-DE"/>
          </a:p>
        </p:txBody>
      </p:sp>
      <p:sp>
        <p:nvSpPr>
          <p:cNvPr id="19" name="Text 16"/>
          <p:cNvSpPr/>
          <p:nvPr/>
        </p:nvSpPr>
        <p:spPr>
          <a:xfrm>
            <a:off x="12249150" y="6972300"/>
            <a:ext cx="930971" cy="257175"/>
          </a:xfrm>
          <a:prstGeom prst="rect">
            <a:avLst/>
          </a:prstGeom>
          <a:noFill/>
          <a:ln/>
        </p:spPr>
        <p:txBody>
          <a:bodyPr wrap="square" lIns="0" tIns="0" rIns="0" bIns="0" rtlCol="0" anchor="t">
            <a:normAutofit/>
          </a:bodyPr>
          <a:lstStyle/>
          <a:p>
            <a:pPr marL="0" indent="0" algn="l">
              <a:buNone/>
            </a:pPr>
            <a:r>
              <a:rPr lang="en-US" sz="1425" dirty="0">
                <a:solidFill>
                  <a:srgbClr val="6A625A"/>
                </a:solidFill>
                <a:latin typeface="Arial" pitchFamily="34" charset="0"/>
                <a:ea typeface="Arial" pitchFamily="34" charset="-122"/>
                <a:cs typeface="Arial" pitchFamily="34" charset="-120"/>
              </a:rPr>
              <a:t>PRESENT</a:t>
            </a:r>
            <a:endParaRPr lang="en-US" sz="1425" dirty="0"/>
          </a:p>
        </p:txBody>
      </p:sp>
      <p:sp>
        <p:nvSpPr>
          <p:cNvPr id="20" name="Shape 17"/>
          <p:cNvSpPr/>
          <p:nvPr/>
        </p:nvSpPr>
        <p:spPr>
          <a:xfrm>
            <a:off x="13313569" y="7072313"/>
            <a:ext cx="190500" cy="28575"/>
          </a:xfrm>
          <a:prstGeom prst="rect">
            <a:avLst/>
          </a:prstGeom>
          <a:solidFill>
            <a:srgbClr val="2C6CA6"/>
          </a:solidFill>
          <a:ln/>
        </p:spPr>
        <p:txBody>
          <a:bodyPr/>
          <a:lstStyle/>
          <a:p>
            <a:endParaRPr lang="de-DE"/>
          </a:p>
        </p:txBody>
      </p:sp>
      <p:sp>
        <p:nvSpPr>
          <p:cNvPr id="21" name="Text 18"/>
          <p:cNvSpPr/>
          <p:nvPr/>
        </p:nvSpPr>
        <p:spPr>
          <a:xfrm>
            <a:off x="13580269" y="6972300"/>
            <a:ext cx="669406" cy="257175"/>
          </a:xfrm>
          <a:prstGeom prst="rect">
            <a:avLst/>
          </a:prstGeom>
          <a:noFill/>
          <a:ln/>
        </p:spPr>
        <p:txBody>
          <a:bodyPr wrap="square" lIns="0" tIns="0" rIns="0" bIns="0" rtlCol="0" anchor="t">
            <a:normAutofit/>
          </a:bodyPr>
          <a:lstStyle/>
          <a:p>
            <a:pPr marL="0" indent="0" algn="l">
              <a:buNone/>
            </a:pPr>
            <a:r>
              <a:rPr lang="en-US" sz="1425" dirty="0">
                <a:solidFill>
                  <a:srgbClr val="6A625A"/>
                </a:solidFill>
                <a:latin typeface="Arial" pitchFamily="34" charset="0"/>
                <a:ea typeface="Arial" pitchFamily="34" charset="-122"/>
                <a:cs typeface="Arial" pitchFamily="34" charset="-120"/>
              </a:rPr>
              <a:t>SIMON</a:t>
            </a:r>
            <a:endParaRPr lang="en-US" sz="14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20F"/>
        </a:solidFill>
        <a:effectLst/>
      </p:bgPr>
    </p:bg>
    <p:spTree>
      <p:nvGrpSpPr>
        <p:cNvPr id="1" name=""/>
        <p:cNvGrpSpPr/>
        <p:nvPr/>
      </p:nvGrpSpPr>
      <p:grpSpPr>
        <a:xfrm>
          <a:off x="0" y="0"/>
          <a:ext cx="0" cy="0"/>
          <a:chOff x="0" y="0"/>
          <a:chExt cx="0" cy="0"/>
        </a:xfrm>
      </p:grpSpPr>
      <p:sp>
        <p:nvSpPr>
          <p:cNvPr id="2" name="Text 0"/>
          <p:cNvSpPr/>
          <p:nvPr/>
        </p:nvSpPr>
        <p:spPr>
          <a:xfrm>
            <a:off x="1143000" y="895350"/>
            <a:ext cx="3558912" cy="314325"/>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A9388"/>
                </a:solidFill>
                <a:latin typeface="Arial" pitchFamily="34" charset="0"/>
                <a:ea typeface="Arial" pitchFamily="34" charset="-122"/>
                <a:cs typeface="Arial" pitchFamily="34" charset="-120"/>
              </a:rPr>
              <a:t>15 — WHY IT MATTERS</a:t>
            </a:r>
            <a:endParaRPr lang="en-US" sz="1800" dirty="0"/>
          </a:p>
        </p:txBody>
      </p:sp>
      <p:sp>
        <p:nvSpPr>
          <p:cNvPr id="3" name="Text 1"/>
          <p:cNvSpPr/>
          <p:nvPr/>
        </p:nvSpPr>
        <p:spPr>
          <a:xfrm>
            <a:off x="13243620" y="895350"/>
            <a:ext cx="4291519" cy="314325"/>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A9388"/>
                </a:solidFill>
                <a:latin typeface="Arial" pitchFamily="34" charset="0"/>
                <a:ea typeface="Arial" pitchFamily="34" charset="-122"/>
                <a:cs typeface="Arial" pitchFamily="34" charset="-120"/>
              </a:rPr>
              <a:t>IEEE NANO 2026 · NANJING</a:t>
            </a:r>
            <a:endParaRPr lang="en-US" sz="1800" dirty="0"/>
          </a:p>
        </p:txBody>
      </p:sp>
      <p:sp>
        <p:nvSpPr>
          <p:cNvPr id="4" name="Text 2"/>
          <p:cNvSpPr/>
          <p:nvPr/>
        </p:nvSpPr>
        <p:spPr>
          <a:xfrm>
            <a:off x="1143000" y="3028950"/>
            <a:ext cx="14519910" cy="1390650"/>
          </a:xfrm>
          <a:prstGeom prst="rect">
            <a:avLst/>
          </a:prstGeom>
          <a:noFill/>
          <a:ln/>
        </p:spPr>
        <p:txBody>
          <a:bodyPr wrap="square" lIns="25400" tIns="25400" rIns="25400" bIns="25400" rtlCol="0" anchor="t">
            <a:normAutofit/>
          </a:bodyPr>
          <a:lstStyle/>
          <a:p>
            <a:pPr marL="0" indent="0" algn="l">
              <a:lnSpc>
                <a:spcPct val="108000"/>
              </a:lnSpc>
              <a:buNone/>
            </a:pPr>
            <a:r>
              <a:rPr lang="en-US" sz="4950" kern="0" spc="-59" dirty="0">
                <a:solidFill>
                  <a:srgbClr val="F8F7F3"/>
                </a:solidFill>
                <a:latin typeface="Georgia" pitchFamily="34" charset="0"/>
                <a:ea typeface="Georgia" pitchFamily="34" charset="-122"/>
                <a:cs typeface="Georgia" pitchFamily="34" charset="-120"/>
              </a:rPr>
              <a:t>Check the chip’s crypto — from its output alone</a:t>
            </a:r>
            <a:endParaRPr lang="en-US" sz="4950" dirty="0"/>
          </a:p>
        </p:txBody>
      </p:sp>
      <p:sp>
        <p:nvSpPr>
          <p:cNvPr id="5" name="Shape 3"/>
          <p:cNvSpPr/>
          <p:nvPr/>
        </p:nvSpPr>
        <p:spPr>
          <a:xfrm>
            <a:off x="1143000" y="4800600"/>
            <a:ext cx="4394150" cy="19050"/>
          </a:xfrm>
          <a:prstGeom prst="rect">
            <a:avLst/>
          </a:prstGeom>
          <a:solidFill>
            <a:srgbClr val="BC4226"/>
          </a:solidFill>
          <a:ln/>
        </p:spPr>
        <p:txBody>
          <a:bodyPr/>
          <a:lstStyle/>
          <a:p>
            <a:endParaRPr lang="de-DE"/>
          </a:p>
        </p:txBody>
      </p:sp>
      <p:sp>
        <p:nvSpPr>
          <p:cNvPr id="6" name="Text 4"/>
          <p:cNvSpPr/>
          <p:nvPr/>
        </p:nvSpPr>
        <p:spPr>
          <a:xfrm>
            <a:off x="1143000" y="5029200"/>
            <a:ext cx="4833565" cy="285750"/>
          </a:xfrm>
          <a:prstGeom prst="rect">
            <a:avLst/>
          </a:prstGeom>
          <a:noFill/>
          <a:ln/>
        </p:spPr>
        <p:txBody>
          <a:bodyPr wrap="square" lIns="25400" tIns="25400" rIns="25400" bIns="25400" rtlCol="0" anchor="t">
            <a:normAutofit/>
          </a:bodyPr>
          <a:lstStyle/>
          <a:p>
            <a:pPr marL="0" indent="0" algn="l">
              <a:buNone/>
            </a:pPr>
            <a:r>
              <a:rPr lang="en-US" sz="1575" kern="0" spc="79" dirty="0">
                <a:solidFill>
                  <a:srgbClr val="E0846A"/>
                </a:solidFill>
                <a:latin typeface="Arial" pitchFamily="34" charset="0"/>
                <a:ea typeface="Arial" pitchFamily="34" charset="-122"/>
                <a:cs typeface="Arial" pitchFamily="34" charset="-120"/>
              </a:rPr>
              <a:t>THE STAKES</a:t>
            </a:r>
            <a:endParaRPr lang="en-US" sz="1575" dirty="0"/>
          </a:p>
        </p:txBody>
      </p:sp>
      <p:sp>
        <p:nvSpPr>
          <p:cNvPr id="7" name="Text 5"/>
          <p:cNvSpPr/>
          <p:nvPr/>
        </p:nvSpPr>
        <p:spPr>
          <a:xfrm>
            <a:off x="1143000" y="5410200"/>
            <a:ext cx="4525975" cy="109537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D8D2C7"/>
                </a:solidFill>
                <a:latin typeface="Arial" pitchFamily="34" charset="0"/>
                <a:ea typeface="Arial" pitchFamily="34" charset="-122"/>
                <a:cs typeface="Arial" pitchFamily="34" charset="-120"/>
              </a:rPr>
              <a:t>Billions of nano-chips you can never patch — and no way to check their encryption after fabrication.</a:t>
            </a:r>
            <a:endParaRPr lang="en-US" sz="1950" dirty="0"/>
          </a:p>
        </p:txBody>
      </p:sp>
      <p:sp>
        <p:nvSpPr>
          <p:cNvPr id="8" name="Shape 6"/>
          <p:cNvSpPr/>
          <p:nvPr/>
        </p:nvSpPr>
        <p:spPr>
          <a:xfrm>
            <a:off x="5994350" y="4800600"/>
            <a:ext cx="4394150" cy="19050"/>
          </a:xfrm>
          <a:prstGeom prst="rect">
            <a:avLst/>
          </a:prstGeom>
          <a:solidFill>
            <a:srgbClr val="4DA6FF"/>
          </a:solidFill>
          <a:ln/>
        </p:spPr>
        <p:txBody>
          <a:bodyPr/>
          <a:lstStyle/>
          <a:p>
            <a:endParaRPr lang="de-DE"/>
          </a:p>
        </p:txBody>
      </p:sp>
      <p:sp>
        <p:nvSpPr>
          <p:cNvPr id="9" name="Text 7"/>
          <p:cNvSpPr/>
          <p:nvPr/>
        </p:nvSpPr>
        <p:spPr>
          <a:xfrm>
            <a:off x="5994350" y="5029200"/>
            <a:ext cx="4833565" cy="285750"/>
          </a:xfrm>
          <a:prstGeom prst="rect">
            <a:avLst/>
          </a:prstGeom>
          <a:noFill/>
          <a:ln/>
        </p:spPr>
        <p:txBody>
          <a:bodyPr wrap="square" lIns="25400" tIns="25400" rIns="25400" bIns="25400" rtlCol="0" anchor="t">
            <a:normAutofit/>
          </a:bodyPr>
          <a:lstStyle/>
          <a:p>
            <a:pPr marL="0" indent="0" algn="l">
              <a:buNone/>
            </a:pPr>
            <a:r>
              <a:rPr lang="en-US" sz="1575" kern="0" spc="79" dirty="0">
                <a:solidFill>
                  <a:srgbClr val="4DA6FF"/>
                </a:solidFill>
                <a:latin typeface="Arial" pitchFamily="34" charset="0"/>
                <a:ea typeface="Arial" pitchFamily="34" charset="-122"/>
                <a:cs typeface="Arial" pitchFamily="34" charset="-120"/>
              </a:rPr>
              <a:t>THE TOOL</a:t>
            </a:r>
            <a:endParaRPr lang="en-US" sz="1575" dirty="0"/>
          </a:p>
        </p:txBody>
      </p:sp>
      <p:sp>
        <p:nvSpPr>
          <p:cNvPr id="10" name="Text 8"/>
          <p:cNvSpPr/>
          <p:nvPr/>
        </p:nvSpPr>
        <p:spPr>
          <a:xfrm>
            <a:off x="5994350" y="5410200"/>
            <a:ext cx="4525975" cy="109537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D8D2C7"/>
                </a:solidFill>
                <a:latin typeface="Arial" pitchFamily="34" charset="0"/>
                <a:ea typeface="Arial" pitchFamily="34" charset="-122"/>
                <a:cs typeface="Arial" pitchFamily="34" charset="-120"/>
              </a:rPr>
              <a:t>One number from the chip’s output — any cipher, no keys, no training, on a plain desktop.</a:t>
            </a:r>
            <a:endParaRPr lang="en-US" sz="1950" dirty="0"/>
          </a:p>
        </p:txBody>
      </p:sp>
      <p:sp>
        <p:nvSpPr>
          <p:cNvPr id="11" name="Shape 9"/>
          <p:cNvSpPr/>
          <p:nvPr/>
        </p:nvSpPr>
        <p:spPr>
          <a:xfrm>
            <a:off x="10845701" y="4800600"/>
            <a:ext cx="4394150" cy="19050"/>
          </a:xfrm>
          <a:prstGeom prst="rect">
            <a:avLst/>
          </a:prstGeom>
          <a:solidFill>
            <a:srgbClr val="5FBF8F"/>
          </a:solidFill>
          <a:ln/>
        </p:spPr>
        <p:txBody>
          <a:bodyPr/>
          <a:lstStyle/>
          <a:p>
            <a:endParaRPr lang="de-DE"/>
          </a:p>
        </p:txBody>
      </p:sp>
      <p:sp>
        <p:nvSpPr>
          <p:cNvPr id="12" name="Text 10"/>
          <p:cNvSpPr/>
          <p:nvPr/>
        </p:nvSpPr>
        <p:spPr>
          <a:xfrm>
            <a:off x="10845701" y="5029200"/>
            <a:ext cx="4833565" cy="285750"/>
          </a:xfrm>
          <a:prstGeom prst="rect">
            <a:avLst/>
          </a:prstGeom>
          <a:noFill/>
          <a:ln/>
        </p:spPr>
        <p:txBody>
          <a:bodyPr wrap="square" lIns="25400" tIns="25400" rIns="25400" bIns="25400" rtlCol="0" anchor="t">
            <a:normAutofit/>
          </a:bodyPr>
          <a:lstStyle/>
          <a:p>
            <a:pPr marL="0" indent="0" algn="l">
              <a:buNone/>
            </a:pPr>
            <a:r>
              <a:rPr lang="en-US" sz="1575" kern="0" spc="79" dirty="0">
                <a:solidFill>
                  <a:srgbClr val="5FBF8F"/>
                </a:solidFill>
                <a:latin typeface="Arial" pitchFamily="34" charset="0"/>
                <a:ea typeface="Arial" pitchFamily="34" charset="-122"/>
                <a:cs typeface="Arial" pitchFamily="34" charset="-120"/>
              </a:rPr>
              <a:t>THE TAKEAWAY</a:t>
            </a:r>
            <a:endParaRPr lang="en-US" sz="1575" dirty="0"/>
          </a:p>
        </p:txBody>
      </p:sp>
      <p:sp>
        <p:nvSpPr>
          <p:cNvPr id="13" name="Text 11"/>
          <p:cNvSpPr/>
          <p:nvPr/>
        </p:nvSpPr>
        <p:spPr>
          <a:xfrm>
            <a:off x="10845701" y="5410200"/>
            <a:ext cx="4525975" cy="1095375"/>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D8D2C7"/>
                </a:solidFill>
                <a:latin typeface="Arial" pitchFamily="34" charset="0"/>
                <a:ea typeface="Arial" pitchFamily="34" charset="-122"/>
                <a:cs typeface="Arial" pitchFamily="34" charset="-120"/>
              </a:rPr>
              <a:t>Speck is broken; it even caught real bugs. For nano devices — prefer SIMON.</a:t>
            </a:r>
            <a:endParaRPr lang="en-US" sz="1950" dirty="0"/>
          </a:p>
        </p:txBody>
      </p:sp>
      <p:sp>
        <p:nvSpPr>
          <p:cNvPr id="14" name="Shape 12"/>
          <p:cNvSpPr/>
          <p:nvPr/>
        </p:nvSpPr>
        <p:spPr>
          <a:xfrm>
            <a:off x="1143000" y="8324850"/>
            <a:ext cx="16002000" cy="9525"/>
          </a:xfrm>
          <a:prstGeom prst="rect">
            <a:avLst/>
          </a:prstGeom>
          <a:solidFill>
            <a:srgbClr val="36312A"/>
          </a:solidFill>
          <a:ln/>
        </p:spPr>
        <p:txBody>
          <a:bodyPr/>
          <a:lstStyle/>
          <a:p>
            <a:endParaRPr lang="de-DE"/>
          </a:p>
        </p:txBody>
      </p:sp>
      <p:sp>
        <p:nvSpPr>
          <p:cNvPr id="15" name="Text 13"/>
          <p:cNvSpPr/>
          <p:nvPr/>
        </p:nvSpPr>
        <p:spPr>
          <a:xfrm>
            <a:off x="1143000" y="8620125"/>
            <a:ext cx="4733865" cy="476250"/>
          </a:xfrm>
          <a:prstGeom prst="rect">
            <a:avLst/>
          </a:prstGeom>
          <a:noFill/>
          <a:ln/>
        </p:spPr>
        <p:txBody>
          <a:bodyPr wrap="square" lIns="25400" tIns="25400" rIns="25400" bIns="25400" rtlCol="0" anchor="t">
            <a:normAutofit/>
          </a:bodyPr>
          <a:lstStyle/>
          <a:p>
            <a:pPr marL="0" indent="0" algn="l">
              <a:buNone/>
            </a:pPr>
            <a:r>
              <a:rPr lang="en-US" sz="2850" b="1" dirty="0">
                <a:solidFill>
                  <a:srgbClr val="F8F7F3"/>
                </a:solidFill>
                <a:latin typeface="Arial" pitchFamily="34" charset="0"/>
                <a:ea typeface="Arial" pitchFamily="34" charset="-122"/>
                <a:cs typeface="Arial" pitchFamily="34" charset="-120"/>
              </a:rPr>
              <a:t>Thank you — questions?</a:t>
            </a:r>
            <a:endParaRPr lang="en-US" sz="2850" dirty="0"/>
          </a:p>
        </p:txBody>
      </p:sp>
      <p:sp>
        <p:nvSpPr>
          <p:cNvPr id="16" name="Text 14"/>
          <p:cNvSpPr/>
          <p:nvPr/>
        </p:nvSpPr>
        <p:spPr>
          <a:xfrm>
            <a:off x="1143000" y="9134475"/>
            <a:ext cx="4733865" cy="295275"/>
          </a:xfrm>
          <a:prstGeom prst="rect">
            <a:avLst/>
          </a:prstGeom>
          <a:noFill/>
          <a:ln/>
        </p:spPr>
        <p:txBody>
          <a:bodyPr wrap="square" lIns="25400" tIns="25400" rIns="25400" bIns="25400" rtlCol="0" anchor="t">
            <a:normAutofit/>
          </a:bodyPr>
          <a:lstStyle/>
          <a:p>
            <a:pPr marL="0" indent="0" algn="l">
              <a:buNone/>
            </a:pPr>
            <a:r>
              <a:rPr lang="en-US" sz="1725" kern="0" spc="17" dirty="0">
                <a:solidFill>
                  <a:srgbClr val="9A9388"/>
                </a:solidFill>
                <a:latin typeface="Arial" pitchFamily="34" charset="0"/>
                <a:ea typeface="Arial" pitchFamily="34" charset="-122"/>
                <a:cs typeface="Arial" pitchFamily="34" charset="-120"/>
              </a:rPr>
              <a:t>David Tom Foss · d.foss@ieee.org</a:t>
            </a:r>
            <a:endParaRPr lang="en-US" sz="1725" dirty="0"/>
          </a:p>
        </p:txBody>
      </p:sp>
      <p:sp>
        <p:nvSpPr>
          <p:cNvPr id="17" name="Text 15"/>
          <p:cNvSpPr/>
          <p:nvPr/>
        </p:nvSpPr>
        <p:spPr>
          <a:xfrm>
            <a:off x="11639401" y="8829675"/>
            <a:ext cx="5505599" cy="295275"/>
          </a:xfrm>
          <a:prstGeom prst="rect">
            <a:avLst/>
          </a:prstGeom>
          <a:noFill/>
          <a:ln/>
        </p:spPr>
        <p:txBody>
          <a:bodyPr wrap="square" lIns="25400" tIns="25400" rIns="25400" bIns="25400" rtlCol="0" anchor="t">
            <a:normAutofit/>
          </a:bodyPr>
          <a:lstStyle/>
          <a:p>
            <a:pPr marL="0" indent="0" algn="r">
              <a:buNone/>
            </a:pPr>
            <a:r>
              <a:rPr lang="en-US" sz="1725" kern="0" spc="17" dirty="0">
                <a:solidFill>
                  <a:srgbClr val="C9C3B8"/>
                </a:solidFill>
                <a:latin typeface="Arial" pitchFamily="34" charset="0"/>
                <a:ea typeface="Arial" pitchFamily="34" charset="-122"/>
                <a:cs typeface="Arial" pitchFamily="34" charset="-120"/>
              </a:rPr>
              <a:t>live-casi — free &amp; open source</a:t>
            </a:r>
            <a:endParaRPr lang="en-US" sz="1725" dirty="0"/>
          </a:p>
        </p:txBody>
      </p:sp>
      <p:sp>
        <p:nvSpPr>
          <p:cNvPr id="18" name="Text 16"/>
          <p:cNvSpPr/>
          <p:nvPr/>
        </p:nvSpPr>
        <p:spPr>
          <a:xfrm>
            <a:off x="11639401" y="9144000"/>
            <a:ext cx="5505599" cy="285750"/>
          </a:xfrm>
          <a:prstGeom prst="rect">
            <a:avLst/>
          </a:prstGeom>
          <a:noFill/>
          <a:ln/>
        </p:spPr>
        <p:txBody>
          <a:bodyPr wrap="square" lIns="25400" tIns="25400" rIns="25400" bIns="25400" rtlCol="0" anchor="t">
            <a:normAutofit/>
          </a:bodyPr>
          <a:lstStyle/>
          <a:p>
            <a:pPr marL="0" indent="0" algn="r">
              <a:buNone/>
            </a:pPr>
            <a:r>
              <a:rPr lang="en-US" sz="1575" kern="0" spc="16" dirty="0">
                <a:solidFill>
                  <a:srgbClr val="9A9388"/>
                </a:solidFill>
                <a:latin typeface="Arial" pitchFamily="34" charset="0"/>
                <a:ea typeface="Arial" pitchFamily="34" charset="-122"/>
                <a:cs typeface="Arial" pitchFamily="34" charset="-120"/>
              </a:rPr>
              <a:t>github.com/DT-Foss/live-casi · pypi.org/project/live-casi</a:t>
            </a:r>
            <a:endParaRPr lang="en-US" sz="15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Benutzerdefiniert</PresentationFormat>
  <Paragraphs>0</Paragraphs>
  <Slides>15</Slides>
  <Notes>15</Notes>
  <HiddenSlides>0</HiddenSlides>
  <MMClips>0</MMClips>
  <ScaleCrop>false</ScaleCrop>
  <HeadingPairs>
    <vt:vector size="4" baseType="variant">
      <vt:variant>
        <vt:lpstr>Design</vt:lpstr>
      </vt:variant>
      <vt:variant>
        <vt:i4>1</vt:i4>
      </vt:variant>
      <vt:variant>
        <vt:lpstr>Folientitel</vt:lpstr>
      </vt:variant>
      <vt:variant>
        <vt:i4>15</vt:i4>
      </vt:variant>
    </vt:vector>
  </HeadingPairs>
  <TitlesOfParts>
    <vt:vector size="16" baseType="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Compression-Based Trust Verification of Lightweight Ciphers Deployed in Nano-IoT Communication Standards</dc:title>
  <dc:subject>IEEE NANO 2026 presentation</dc:subject>
  <dc:creator>David Tom Foss</dc:creator>
  <cp:lastModifiedBy>David Tom Foss</cp:lastModifiedBy>
  <cp:revision>2</cp:revision>
  <dcterms:created xsi:type="dcterms:W3CDTF">2026-07-07T18:30:07Z</dcterms:created>
  <dcterms:modified xsi:type="dcterms:W3CDTF">2026-07-08T06:27:49Z</dcterms:modified>
</cp:coreProperties>
</file>